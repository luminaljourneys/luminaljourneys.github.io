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8456C-F01C-4AD4-B01E-02B3F50DB9E4}" v="1349" dt="2026-04-28T18:24:19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43BC9-AAB9-4D24-986D-D8B346FCDA3B}" type="datetimeFigureOut"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228ED-E247-489F-94E8-AF924831D5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8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475337"/>
            <a:ext cx="6400800" cy="1377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LUMINAL JOURNEYS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67512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leadership starts within you.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" y="22484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Psilocybin-Assisted Leadership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570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8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WHITE PAPER  · APRIL 2026  ·  NORTH HOLLAND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131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· Connection · Responsibility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12408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6936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AAAAA"/>
                </a:solidFill>
                <a:latin typeface="Calibri"/>
              </a:rPr>
              <a:t>OUR PROGRAMS</a:t>
            </a:r>
          </a:p>
        </p:txBody>
      </p:sp>
      <p:sp>
        <p:nvSpPr>
          <p:cNvPr id="10" name="h1bg"/>
          <p:cNvSpPr/>
          <p:nvPr/>
        </p:nvSpPr>
        <p:spPr>
          <a:xfrm>
            <a:off x="502920" y="548640"/>
            <a:ext cx="2393695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h2bg"/>
          <p:cNvSpPr/>
          <p:nvPr/>
        </p:nvSpPr>
        <p:spPr>
          <a:xfrm>
            <a:off x="2896615" y="548640"/>
            <a:ext cx="2393695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2" name="h3bg"/>
          <p:cNvSpPr/>
          <p:nvPr/>
        </p:nvSpPr>
        <p:spPr>
          <a:xfrm>
            <a:off x="5290310" y="548640"/>
            <a:ext cx="2393695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3" name="h4bg"/>
          <p:cNvSpPr/>
          <p:nvPr/>
        </p:nvSpPr>
        <p:spPr>
          <a:xfrm>
            <a:off x="7684005" y="548640"/>
            <a:ext cx="2393695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20" name="ht1"/>
          <p:cNvSpPr/>
          <p:nvPr/>
        </p:nvSpPr>
        <p:spPr>
          <a:xfrm>
            <a:off x="532920" y="558640"/>
            <a:ext cx="2333695" cy="3686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</a:rPr>
              <a:t>Program</a:t>
            </a:r>
          </a:p>
        </p:txBody>
      </p:sp>
      <p:sp>
        <p:nvSpPr>
          <p:cNvPr id="21" name="ht2"/>
          <p:cNvSpPr/>
          <p:nvPr/>
        </p:nvSpPr>
        <p:spPr>
          <a:xfrm>
            <a:off x="2926615" y="558640"/>
            <a:ext cx="2333695" cy="3686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</a:rPr>
              <a:t>Love &amp; Connection</a:t>
            </a:r>
          </a:p>
        </p:txBody>
      </p:sp>
      <p:sp>
        <p:nvSpPr>
          <p:cNvPr id="22" name="ht3"/>
          <p:cNvSpPr/>
          <p:nvPr/>
        </p:nvSpPr>
        <p:spPr>
          <a:xfrm>
            <a:off x="5320310" y="558640"/>
            <a:ext cx="2333695" cy="3686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</a:rPr>
              <a:t>Trauma, Healing &amp; Identity Integration</a:t>
            </a:r>
          </a:p>
        </p:txBody>
      </p:sp>
      <p:sp>
        <p:nvSpPr>
          <p:cNvPr id="23" name="ht4"/>
          <p:cNvSpPr/>
          <p:nvPr/>
        </p:nvSpPr>
        <p:spPr>
          <a:xfrm>
            <a:off x="7714005" y="558640"/>
            <a:ext cx="2333695" cy="3686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/>
              </a:rPr>
              <a:t>Intuitive Leadership</a:t>
            </a:r>
          </a:p>
        </p:txBody>
      </p:sp>
      <p:sp>
        <p:nvSpPr>
          <p:cNvPr id="30" name="r1c1bg"/>
          <p:cNvSpPr/>
          <p:nvPr/>
        </p:nvSpPr>
        <p:spPr>
          <a:xfrm>
            <a:off x="502920" y="937260"/>
            <a:ext cx="2393695" cy="109728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1" name="r1c2bg"/>
          <p:cNvSpPr/>
          <p:nvPr/>
        </p:nvSpPr>
        <p:spPr>
          <a:xfrm>
            <a:off x="2896615" y="937260"/>
            <a:ext cx="239369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2" name="r1c3bg"/>
          <p:cNvSpPr/>
          <p:nvPr/>
        </p:nvSpPr>
        <p:spPr>
          <a:xfrm>
            <a:off x="5290310" y="937260"/>
            <a:ext cx="239369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3" name="r1c4bg"/>
          <p:cNvSpPr/>
          <p:nvPr/>
        </p:nvSpPr>
        <p:spPr>
          <a:xfrm>
            <a:off x="7684005" y="937260"/>
            <a:ext cx="239369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0" name="r1t1"/>
          <p:cNvSpPr/>
          <p:nvPr/>
        </p:nvSpPr>
        <p:spPr>
          <a:xfrm>
            <a:off x="532920" y="94726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/>
              </a:rPr>
              <a:t>Clientele</a:t>
            </a:r>
          </a:p>
        </p:txBody>
      </p:sp>
      <p:sp>
        <p:nvSpPr>
          <p:cNvPr id="41" name="r1t2"/>
          <p:cNvSpPr/>
          <p:nvPr/>
        </p:nvSpPr>
        <p:spPr>
          <a:xfrm>
            <a:off x="2926615" y="94726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/>
              </a:rPr>
              <a:t>Couples, polycules, &amp; other significant relationships</a:t>
            </a:r>
          </a:p>
        </p:txBody>
      </p:sp>
      <p:sp>
        <p:nvSpPr>
          <p:cNvPr id="42" name="r1t3"/>
          <p:cNvSpPr/>
          <p:nvPr/>
        </p:nvSpPr>
        <p:spPr>
          <a:xfrm>
            <a:off x="5320310" y="94726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/>
              </a:rPr>
              <a:t>Trauma survivors &amp; special groups like LGBT+, end of life clients</a:t>
            </a:r>
          </a:p>
        </p:txBody>
      </p:sp>
      <p:sp>
        <p:nvSpPr>
          <p:cNvPr id="43" name="r1t4"/>
          <p:cNvSpPr/>
          <p:nvPr/>
        </p:nvSpPr>
        <p:spPr>
          <a:xfrm>
            <a:off x="7714005" y="94726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/>
              </a:rPr>
              <a:t>Workplace leaders</a:t>
            </a:r>
          </a:p>
        </p:txBody>
      </p:sp>
      <p:sp>
        <p:nvSpPr>
          <p:cNvPr id="50" name="r2c1bg"/>
          <p:cNvSpPr/>
          <p:nvPr/>
        </p:nvSpPr>
        <p:spPr>
          <a:xfrm>
            <a:off x="502920" y="2034540"/>
            <a:ext cx="2393695" cy="109728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51" name="r2c2bg"/>
          <p:cNvSpPr/>
          <p:nvPr/>
        </p:nvSpPr>
        <p:spPr>
          <a:xfrm>
            <a:off x="2896615" y="2034540"/>
            <a:ext cx="239369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52" name="r2c3bg"/>
          <p:cNvSpPr/>
          <p:nvPr/>
        </p:nvSpPr>
        <p:spPr>
          <a:xfrm>
            <a:off x="5290310" y="2034540"/>
            <a:ext cx="239369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53" name="r2c4bg"/>
          <p:cNvSpPr/>
          <p:nvPr/>
        </p:nvSpPr>
        <p:spPr>
          <a:xfrm>
            <a:off x="7684005" y="2034540"/>
            <a:ext cx="2393695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60" name="r2t1"/>
          <p:cNvSpPr/>
          <p:nvPr/>
        </p:nvSpPr>
        <p:spPr>
          <a:xfrm>
            <a:off x="532920" y="204454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/>
              </a:rPr>
              <a:t>Focus</a:t>
            </a:r>
          </a:p>
        </p:txBody>
      </p:sp>
      <p:sp>
        <p:nvSpPr>
          <p:cNvPr id="61" name="r2t2"/>
          <p:cNvSpPr/>
          <p:nvPr/>
        </p:nvSpPr>
        <p:spPr>
          <a:xfrm>
            <a:off x="2926615" y="204454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/>
              </a:rPr>
              <a:t>Work through empathy to better intimacy with loved ones</a:t>
            </a:r>
          </a:p>
        </p:txBody>
      </p:sp>
      <p:sp>
        <p:nvSpPr>
          <p:cNvPr id="62" name="r2t3"/>
          <p:cNvSpPr/>
          <p:nvPr/>
        </p:nvSpPr>
        <p:spPr>
          <a:xfrm>
            <a:off x="5320310" y="204454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/>
              </a:rPr>
              <a:t>Explore and heal trauma as it relates to early life and critical transitions</a:t>
            </a:r>
          </a:p>
        </p:txBody>
      </p:sp>
      <p:sp>
        <p:nvSpPr>
          <p:cNvPr id="63" name="r2t4"/>
          <p:cNvSpPr/>
          <p:nvPr/>
        </p:nvSpPr>
        <p:spPr>
          <a:xfrm>
            <a:off x="7714005" y="2044540"/>
            <a:ext cx="2333695" cy="107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/>
              </a:rPr>
              <a:t>Discover how intuition and the wisdom within can be leveraged for transformational leadership</a:t>
            </a:r>
          </a:p>
        </p:txBody>
      </p:sp>
      <p:sp>
        <p:nvSpPr>
          <p:cNvPr id="70" name="r3c1bg"/>
          <p:cNvSpPr/>
          <p:nvPr/>
        </p:nvSpPr>
        <p:spPr>
          <a:xfrm>
            <a:off x="502920" y="3131820"/>
            <a:ext cx="2393695" cy="480060"/>
          </a:xfrm>
          <a:prstGeom prst="rect">
            <a:avLst/>
          </a:prstGeom>
          <a:solidFill>
            <a:srgbClr val="333333"/>
          </a:solidFill>
          <a:ln w="9525">
            <a:solidFill>
              <a:srgbClr val="444444"/>
            </a:solidFill>
          </a:ln>
        </p:spPr>
      </p:sp>
      <p:sp>
        <p:nvSpPr>
          <p:cNvPr id="71" name="r3c2bg"/>
          <p:cNvSpPr/>
          <p:nvPr/>
        </p:nvSpPr>
        <p:spPr>
          <a:xfrm>
            <a:off x="2896615" y="3131820"/>
            <a:ext cx="2393695" cy="480060"/>
          </a:xfrm>
          <a:prstGeom prst="rect">
            <a:avLst/>
          </a:prstGeom>
          <a:solidFill>
            <a:srgbClr val="333333"/>
          </a:solidFill>
          <a:ln w="9525">
            <a:solidFill>
              <a:srgbClr val="444444"/>
            </a:solidFill>
          </a:ln>
        </p:spPr>
      </p:sp>
      <p:sp>
        <p:nvSpPr>
          <p:cNvPr id="72" name="r3c3bg"/>
          <p:cNvSpPr/>
          <p:nvPr/>
        </p:nvSpPr>
        <p:spPr>
          <a:xfrm>
            <a:off x="5290310" y="3131820"/>
            <a:ext cx="2393695" cy="480060"/>
          </a:xfrm>
          <a:prstGeom prst="rect">
            <a:avLst/>
          </a:prstGeom>
          <a:solidFill>
            <a:srgbClr val="333333"/>
          </a:solidFill>
          <a:ln w="9525">
            <a:solidFill>
              <a:srgbClr val="444444"/>
            </a:solidFill>
          </a:ln>
        </p:spPr>
      </p:sp>
      <p:sp>
        <p:nvSpPr>
          <p:cNvPr id="73" name="r3c4bg"/>
          <p:cNvSpPr/>
          <p:nvPr/>
        </p:nvSpPr>
        <p:spPr>
          <a:xfrm>
            <a:off x="7684005" y="3131820"/>
            <a:ext cx="2393695" cy="480060"/>
          </a:xfrm>
          <a:prstGeom prst="rect">
            <a:avLst/>
          </a:prstGeom>
          <a:solidFill>
            <a:srgbClr val="333333"/>
          </a:solidFill>
          <a:ln w="9525">
            <a:solidFill>
              <a:srgbClr val="444444"/>
            </a:solidFill>
          </a:ln>
        </p:spPr>
      </p:sp>
      <p:sp>
        <p:nvSpPr>
          <p:cNvPr id="80" name="r3t1"/>
          <p:cNvSpPr/>
          <p:nvPr/>
        </p:nvSpPr>
        <p:spPr>
          <a:xfrm>
            <a:off x="532920" y="3141820"/>
            <a:ext cx="2333695" cy="46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Catalyst</a:t>
            </a:r>
          </a:p>
        </p:txBody>
      </p:sp>
      <p:sp>
        <p:nvSpPr>
          <p:cNvPr id="81" name="r3t2"/>
          <p:cNvSpPr/>
          <p:nvPr/>
        </p:nvSpPr>
        <p:spPr>
          <a:xfrm>
            <a:off x="2926615" y="3141820"/>
            <a:ext cx="2333695" cy="46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Georgia"/>
              </a:rPr>
              <a:t>MDMA</a:t>
            </a:r>
          </a:p>
        </p:txBody>
      </p:sp>
      <p:sp>
        <p:nvSpPr>
          <p:cNvPr id="82" name="r3t3"/>
          <p:cNvSpPr/>
          <p:nvPr/>
        </p:nvSpPr>
        <p:spPr>
          <a:xfrm>
            <a:off x="5320310" y="3141820"/>
            <a:ext cx="2333695" cy="46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Georgia"/>
              </a:rPr>
              <a:t>Psilocybin</a:t>
            </a:r>
          </a:p>
        </p:txBody>
      </p:sp>
      <p:sp>
        <p:nvSpPr>
          <p:cNvPr id="83" name="r3t4"/>
          <p:cNvSpPr/>
          <p:nvPr/>
        </p:nvSpPr>
        <p:spPr>
          <a:xfrm>
            <a:off x="7714005" y="3141820"/>
            <a:ext cx="2333695" cy="46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Georgia"/>
              </a:rPr>
              <a:t>Psilocybin</a:t>
            </a:r>
          </a:p>
        </p:txBody>
      </p:sp>
      <p:sp>
        <p:nvSpPr>
          <p:cNvPr id="90" name="footerline"/>
          <p:cNvSpPr/>
          <p:nvPr/>
        </p:nvSpPr>
        <p:spPr>
          <a:xfrm>
            <a:off x="502920" y="4572000"/>
            <a:ext cx="81288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91" name="footertext"/>
          <p:cNvSpPr/>
          <p:nvPr/>
        </p:nvSpPr>
        <p:spPr>
          <a:xfrm>
            <a:off x="502920" y="45858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spc="150" kern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5589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12408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6936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12458" y="326708"/>
            <a:ext cx="3069908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Leadership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06240" y="640080"/>
            <a:ext cx="36576" cy="1280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15968" y="6309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Outer-Performance Trap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82631" y="832104"/>
            <a:ext cx="29603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 often deliver exceptional results while experiencing growing inner disconnection — clarity dims, purpose feels hollow, and familiar patterns persist.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36576" cy="1280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1682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82631" y="1883664"/>
            <a:ext cx="29460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leadership tools (coaching, training) address behaviour and skill. They rarely reach the deeper structures of self from which leadership quality actually originates.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2743200"/>
            <a:ext cx="36576" cy="1280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2734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87393" y="2935224"/>
            <a:ext cx="2950845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senior level, the developmental frontier is fundamentally inner: identity, values integration, relational depth, and the capacity to act from an authentic centre.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193607"/>
            <a:ext cx="32918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937" y="2285047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most significant leadership growth occurs not in training rooms, but in moments of profound stillness and honest self-reckoning."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8508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JOURNEYS — CONFIDENTIAL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4814316"/>
            <a:ext cx="8138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970" y="226695"/>
            <a:ext cx="36576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9607" y="136207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2470" y="497015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rapidly maturing field — landmark findings from Imperial College London, Johns Hopkins, and NYU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508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24028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Treatment-resistant depression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26517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and lasting reductions in clinical populations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88920" y="2148840"/>
            <a:ext cx="1508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24028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flexibility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70048" y="26517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increases in openness, perspective-taking, and adaptability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41732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2148840"/>
            <a:ext cx="1508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24028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Default-mode network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7448" y="26517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shifts in rigid self-referential thinking patterns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141732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903720" y="2148840"/>
            <a:ext cx="1508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24028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Months-long insight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84848" y="26517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personal meaning reported well after a single guided session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858768"/>
            <a:ext cx="8138160" cy="77724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904488"/>
            <a:ext cx="7808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While the journey itself is a catalyst for change, it is the integration processes that is the bridge </a:t>
            </a:r>
            <a:r>
              <a:rPr lang="en-US" sz="85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to </a:t>
            </a:r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lasting transformation. </a:t>
            </a:r>
            <a:r>
              <a:rPr lang="en-US" sz="85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Therefore</a:t>
            </a:r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 Luminal Journeys emphasize programs that maximize the integration process. </a:t>
            </a:r>
            <a:endParaRPr lang="en-US" sz="850" dirty="0">
              <a:solidFill>
                <a:srgbClr val="555555"/>
              </a:solidFill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" y="48508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JOURNEYS — CONFIDENTIAL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4814316"/>
            <a:ext cx="8138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26695"/>
            <a:ext cx="36576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5795" y="226695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Luminal Journeys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9582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DESIGN PRINCIPLES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53896"/>
            <a:ext cx="54864" cy="5486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9224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Psychological and physical safety are non-negotiable throughout. We have licensed </a:t>
            </a:r>
            <a:r>
              <a:rPr lang="en-US" sz="85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medi</a:t>
            </a:r>
            <a:r>
              <a:rPr lang="en-US" sz="8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cal and psychological founders on staff.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54864" cy="5486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Over Experience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Integration work after the </a:t>
            </a:r>
            <a:r>
              <a:rPr lang="en-US" sz="8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journey is where lasting investment toward transformation </a:t>
            </a:r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happens.</a:t>
            </a:r>
            <a:endParaRPr lang="en-US" sz="850" dirty="0">
              <a:solidFill>
                <a:srgbClr val="555555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54864" cy="5486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as Foundation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Ratio between facilitators and clients is low to ensure optimal working relationships. 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54864" cy="5486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b="1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r>
              <a:rPr lang="en-US" sz="100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Depth of Insight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950" b="1" dirty="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We aim to dig deep into the psyche to connect and correct unhelpful recuring patterns.</a:t>
            </a:r>
            <a:endParaRPr lang="en-US" sz="850" dirty="0">
              <a:solidFill>
                <a:srgbClr val="555555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3465576"/>
            <a:ext cx="54864" cy="5486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Commitment to Act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 dirty="0">
              <a:solidFill>
                <a:srgbClr val="555555"/>
              </a:solidFill>
              <a:latin typeface="Calibri"/>
              <a:ea typeface="Calibri"/>
              <a:cs typeface="Calibri"/>
            </a:endParaRPr>
          </a:p>
          <a:p>
            <a:r>
              <a:rPr lang="en-US" sz="8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Insights must translate into </a:t>
            </a:r>
            <a:r>
              <a:rPr lang="en-US" sz="800" dirty="0" err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prac</a:t>
            </a:r>
            <a:r>
              <a:rPr lang="en-US" sz="8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tical, meaningful change in actions. That’s why we offer continued support for translating insights into metamorphosis. </a:t>
            </a:r>
          </a:p>
          <a:p>
            <a:endParaRPr lang="en-US" sz="850" dirty="0">
              <a:solidFill>
                <a:srgbClr val="555555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36758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JOURNEY ARC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36758" y="1417320"/>
            <a:ext cx="132588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8198" y="15361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PREPARATION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28198" y="1874520"/>
            <a:ext cx="11430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8198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Screening &amp; intake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8198" y="2286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— 1:1 facilitator sessions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28197" y="2596671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Intention-setting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5673" y="330083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— Medical and psychological consults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72366" y="1417320"/>
            <a:ext cx="1325880" cy="2651760"/>
          </a:xfrm>
          <a:prstGeom prst="rect">
            <a:avLst/>
          </a:prstGeom>
          <a:solidFill>
            <a:srgbClr val="22222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3806" y="15361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RETREAT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63806" y="1874520"/>
            <a:ext cx="114300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3806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— Orientation &amp; opening ceremony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63806" y="2960557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— Group processing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63806" y="3538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— Immediate integration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806" y="3249305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1:1 processing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07973" y="1417320"/>
            <a:ext cx="132588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9413" y="15361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INTEGRATION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99413" y="1874520"/>
            <a:ext cx="11430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9413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Post-retreat sessions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9413" y="2286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Leadership application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9413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Behaviour translation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9413" y="2926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Ongoing support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48508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JOURNEYS — CONFIDENTIAL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" y="4814316"/>
            <a:ext cx="8138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BF421CFC-8A1D-FD49-657C-5E771BE78517}"/>
              </a:ext>
            </a:extLst>
          </p:cNvPr>
          <p:cNvSpPr/>
          <p:nvPr/>
        </p:nvSpPr>
        <p:spPr>
          <a:xfrm>
            <a:off x="4628197" y="29198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— Buddy pairing for shared </a:t>
            </a: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 xml:space="preserve">learning </a:t>
            </a:r>
            <a:endParaRPr lang="en-US" sz="800" dirty="0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8F348957-CCF3-5D32-81F8-ACEBCF254AB6}"/>
              </a:ext>
            </a:extLst>
          </p:cNvPr>
          <p:cNvSpPr/>
          <p:nvPr/>
        </p:nvSpPr>
        <p:spPr>
          <a:xfrm>
            <a:off x="6063806" y="2304737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— Paired exercises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AFF7C5F9-22F2-BD71-1D33-F698D29B8995}"/>
              </a:ext>
            </a:extLst>
          </p:cNvPr>
          <p:cNvSpPr/>
          <p:nvPr/>
        </p:nvSpPr>
        <p:spPr>
          <a:xfrm>
            <a:off x="6063806" y="26045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— Guided journey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64795"/>
            <a:ext cx="36576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8170" y="221933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This Retreat Serves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PROFILES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C-suite executives &amp; senior leaders navigating transition or renewal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Founders &amp; entrepreneurs at professional identity inflection points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1854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High-functioning medical professionals seeking personal development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5694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Senior consultants, advisors, and professional practitioners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9535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Individuals in structured personal growth ready for deeper inner work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GOALS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435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in a period of professional or personal transition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819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Reconnecting with purpose, values, and authentic direction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85416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203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recurring patterns limiting leadership effectiveness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569464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self-aware, grounded, and responsible leadership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53512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971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between inner life and outer impact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813816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0448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subject to rigorous intake and medical screening. Not all applicants will be accepted. This retreat is a personal and professional development offering — not a substitute for medical or psychological treatment.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8508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JOURNEYS — CONFIDENTIAL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4814316"/>
            <a:ext cx="8138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17170"/>
            <a:ext cx="36576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1897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DETAILS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5795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Information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17957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14600" y="117957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Two-day residential retreat (Day 1: Grounding &amp; Preparation / Day 2: Journey &amp; Integration)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27048"/>
            <a:ext cx="8138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5636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5636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911096"/>
            <a:ext cx="81381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9476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19476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Holland, Netherlands — calm, carefully chosen retreat setting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295144"/>
            <a:ext cx="8138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3317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Status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23317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legal — psilocybin truffles, Netherlands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679192"/>
            <a:ext cx="81381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7157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27157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groups; maximum 2 participants per facilitator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8138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0998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Oversight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30998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medical and psychological safety monitoring throughout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81381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4838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14600" y="34838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intake, suitability, and medical assessment for all applicants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831336"/>
            <a:ext cx="8138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86791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4600" y="38679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places — early application strongly recommended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8508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LUMINAL JOURNEYS — CONFIDENTIAL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2920" y="4814316"/>
            <a:ext cx="8138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463040"/>
            <a:ext cx="3657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engagement in this</a:t>
            </a:r>
            <a:endParaRPr lang="en-US" sz="2600" dirty="0"/>
          </a:p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retreat is not surface-level</a:t>
            </a:r>
            <a:endParaRPr lang="en-US" sz="2600" dirty="0"/>
          </a:p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thoughtful inner work.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7512" y="3163253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5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luminaljourneys.com  ·  APRIL 2026  ·  North Holland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6588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· Connection · Responsibility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RETREAT OVERVIEW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2400" b="1" i="0" dirty="0">
                <a:solidFill>
                  <a:srgbClr val="222222"/>
                </a:solidFill>
                <a:latin typeface="Georgia"/>
              </a:rPr>
              <a:t>One-Week Retreat Journey</a:t>
            </a:r>
          </a:p>
        </p:txBody>
      </p:sp>
      <p:sp>
        <p:nvSpPr>
          <p:cNvPr id="100" name="ph0bg"/>
          <p:cNvSpPr/>
          <p:nvPr/>
        </p:nvSpPr>
        <p:spPr>
          <a:xfrm>
            <a:off x="457200" y="1280000"/>
            <a:ext cx="2633472" cy="3200000"/>
          </a:xfrm>
          <a:prstGeom prst="rect">
            <a:avLst/>
          </a:prstGeom>
          <a:solidFill>
            <a:srgbClr val="F5F5F5"/>
          </a:solidFill>
          <a:ln w="9525">
            <a:solidFill>
              <a:srgbClr val="888888"/>
            </a:solidFill>
          </a:ln>
        </p:spPr>
      </p:sp>
      <p:sp>
        <p:nvSpPr>
          <p:cNvPr id="101" name="ph0hdr"/>
          <p:cNvSpPr/>
          <p:nvPr/>
        </p:nvSpPr>
        <p:spPr>
          <a:xfrm>
            <a:off x="457200" y="1280000"/>
            <a:ext cx="2633472" cy="388620"/>
          </a:xfrm>
          <a:prstGeom prst="rect">
            <a:avLst/>
          </a:prstGeom>
          <a:solidFill>
            <a:srgbClr val="333333"/>
          </a:solidFill>
          <a:ln w="9525">
            <a:solidFill>
              <a:srgbClr val="444444"/>
            </a:solidFill>
          </a:ln>
        </p:spPr>
      </p:sp>
      <p:sp>
        <p:nvSpPr>
          <p:cNvPr id="102" name="ph0lbl"/>
          <p:cNvSpPr/>
          <p:nvPr/>
        </p:nvSpPr>
        <p:spPr>
          <a:xfrm>
            <a:off x="517200" y="1300000"/>
            <a:ext cx="2553472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900" b="1" i="0" dirty="0">
                <a:solidFill>
                  <a:srgbClr val="FFFFFF"/>
                </a:solidFill>
                <a:latin typeface="Georgia"/>
              </a:rPr>
              <a:t>PREPARATION</a:t>
            </a:r>
          </a:p>
        </p:txBody>
      </p:sp>
      <p:sp>
        <p:nvSpPr>
          <p:cNvPr id="103" name="ph0sub"/>
          <p:cNvSpPr/>
          <p:nvPr/>
        </p:nvSpPr>
        <p:spPr>
          <a:xfrm>
            <a:off x="497200" y="1688620"/>
            <a:ext cx="2573472" cy="26000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888888"/>
                </a:solidFill>
                <a:latin typeface="Georgia"/>
              </a:rPr>
              <a:t>Digital</a:t>
            </a:r>
          </a:p>
        </p:txBody>
      </p:sp>
      <p:sp>
        <p:nvSpPr>
          <p:cNvPr id="104" name="ph0line"/>
          <p:cNvSpPr/>
          <p:nvPr/>
        </p:nvSpPr>
        <p:spPr>
          <a:xfrm>
            <a:off x="517200" y="1968620"/>
            <a:ext cx="2513472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105" name="ph0i0"/>
          <p:cNvSpPr/>
          <p:nvPr/>
        </p:nvSpPr>
        <p:spPr>
          <a:xfrm>
            <a:off x="537200" y="2008620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Screening</a:t>
            </a:r>
          </a:p>
        </p:txBody>
      </p:sp>
      <p:sp>
        <p:nvSpPr>
          <p:cNvPr id="106" name="ph0i1"/>
          <p:cNvSpPr/>
          <p:nvPr/>
        </p:nvSpPr>
        <p:spPr>
          <a:xfrm>
            <a:off x="537200" y="2315042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Intake package</a:t>
            </a:r>
          </a:p>
        </p:txBody>
      </p:sp>
      <p:sp>
        <p:nvSpPr>
          <p:cNvPr id="107" name="ph0i2"/>
          <p:cNvSpPr/>
          <p:nvPr/>
        </p:nvSpPr>
        <p:spPr>
          <a:xfrm>
            <a:off x="537200" y="2621464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1:1 Intake meeting</a:t>
            </a:r>
          </a:p>
        </p:txBody>
      </p:sp>
      <p:sp>
        <p:nvSpPr>
          <p:cNvPr id="108" name="ph0i3"/>
          <p:cNvSpPr/>
          <p:nvPr/>
        </p:nvSpPr>
        <p:spPr>
          <a:xfrm>
            <a:off x="537200" y="2927886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Assessments</a:t>
            </a:r>
          </a:p>
        </p:txBody>
      </p:sp>
      <p:sp>
        <p:nvSpPr>
          <p:cNvPr id="109" name="ph0i4"/>
          <p:cNvSpPr/>
          <p:nvPr/>
        </p:nvSpPr>
        <p:spPr>
          <a:xfrm>
            <a:off x="537200" y="3234308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Group meet &amp; greet</a:t>
            </a:r>
          </a:p>
        </p:txBody>
      </p:sp>
      <p:sp>
        <p:nvSpPr>
          <p:cNvPr id="110" name="ph0i5"/>
          <p:cNvSpPr/>
          <p:nvPr/>
        </p:nvSpPr>
        <p:spPr>
          <a:xfrm>
            <a:off x="537200" y="3540730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Buddy meet &amp; greet</a:t>
            </a:r>
          </a:p>
        </p:txBody>
      </p:sp>
      <p:sp>
        <p:nvSpPr>
          <p:cNvPr id="111" name="ph0i6"/>
          <p:cNvSpPr/>
          <p:nvPr/>
        </p:nvSpPr>
        <p:spPr>
          <a:xfrm>
            <a:off x="537200" y="3847152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Intentions guidance</a:t>
            </a:r>
          </a:p>
        </p:txBody>
      </p:sp>
      <p:sp>
        <p:nvSpPr>
          <p:cNvPr id="112" name="ph0i7"/>
          <p:cNvSpPr/>
          <p:nvPr/>
        </p:nvSpPr>
        <p:spPr>
          <a:xfrm>
            <a:off x="537200" y="4153574"/>
            <a:ext cx="2533472" cy="306422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Science overview</a:t>
            </a:r>
          </a:p>
        </p:txBody>
      </p:sp>
      <p:sp>
        <p:nvSpPr>
          <p:cNvPr id="130" name="ph1bg"/>
          <p:cNvSpPr/>
          <p:nvPr/>
        </p:nvSpPr>
        <p:spPr>
          <a:xfrm>
            <a:off x="3255264" y="1280000"/>
            <a:ext cx="2633472" cy="3200000"/>
          </a:xfrm>
          <a:prstGeom prst="rect">
            <a:avLst/>
          </a:prstGeom>
          <a:solidFill>
            <a:srgbClr val="222222"/>
          </a:solidFill>
          <a:ln w="9525">
            <a:solidFill>
              <a:srgbClr val="CCCCCC"/>
            </a:solidFill>
          </a:ln>
        </p:spPr>
      </p:sp>
      <p:sp>
        <p:nvSpPr>
          <p:cNvPr id="131" name="ph1hdr"/>
          <p:cNvSpPr/>
          <p:nvPr/>
        </p:nvSpPr>
        <p:spPr>
          <a:xfrm>
            <a:off x="3255264" y="1280000"/>
            <a:ext cx="2633472" cy="388620"/>
          </a:xfrm>
          <a:prstGeom prst="rect">
            <a:avLst/>
          </a:prstGeom>
          <a:solidFill>
            <a:srgbClr val="111111"/>
          </a:solidFill>
          <a:ln w="9525">
            <a:solidFill>
              <a:srgbClr val="444444"/>
            </a:solidFill>
          </a:ln>
        </p:spPr>
      </p:sp>
      <p:sp>
        <p:nvSpPr>
          <p:cNvPr id="132" name="ph1lbl"/>
          <p:cNvSpPr/>
          <p:nvPr/>
        </p:nvSpPr>
        <p:spPr>
          <a:xfrm>
            <a:off x="3315264" y="1300000"/>
            <a:ext cx="2553472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900" b="1" i="0" dirty="0">
                <a:solidFill>
                  <a:srgbClr val="FFFFFF"/>
                </a:solidFill>
                <a:latin typeface="Georgia"/>
              </a:rPr>
              <a:t>CEREMONY</a:t>
            </a:r>
          </a:p>
        </p:txBody>
      </p:sp>
      <p:sp>
        <p:nvSpPr>
          <p:cNvPr id="133" name="ph1sub"/>
          <p:cNvSpPr/>
          <p:nvPr/>
        </p:nvSpPr>
        <p:spPr>
          <a:xfrm>
            <a:off x="3295264" y="1688620"/>
            <a:ext cx="2573472" cy="26000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AAAAAA"/>
                </a:solidFill>
                <a:latin typeface="Georgia"/>
              </a:rPr>
              <a:t>In-Person · 6 Days</a:t>
            </a:r>
          </a:p>
        </p:txBody>
      </p:sp>
      <p:sp>
        <p:nvSpPr>
          <p:cNvPr id="134" name="ph1line"/>
          <p:cNvSpPr/>
          <p:nvPr/>
        </p:nvSpPr>
        <p:spPr>
          <a:xfrm>
            <a:off x="3315264" y="1968620"/>
            <a:ext cx="251347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5" name="ph1i0"/>
          <p:cNvSpPr/>
          <p:nvPr/>
        </p:nvSpPr>
        <p:spPr>
          <a:xfrm>
            <a:off x="3335264" y="2008620"/>
            <a:ext cx="2533472" cy="408563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CCCCCC"/>
                </a:solidFill>
                <a:latin typeface="Calibri"/>
              </a:rPr>
              <a:t>— Day 1 — Landing</a:t>
            </a:r>
          </a:p>
        </p:txBody>
      </p:sp>
      <p:sp>
        <p:nvSpPr>
          <p:cNvPr id="136" name="ph1i1"/>
          <p:cNvSpPr/>
          <p:nvPr/>
        </p:nvSpPr>
        <p:spPr>
          <a:xfrm>
            <a:off x="3335264" y="2417183"/>
            <a:ext cx="2533472" cy="408563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CCCCCC"/>
                </a:solidFill>
                <a:latin typeface="Calibri"/>
              </a:rPr>
              <a:t>— Day 2 — Opening &amp; Intentions</a:t>
            </a:r>
          </a:p>
        </p:txBody>
      </p:sp>
      <p:sp>
        <p:nvSpPr>
          <p:cNvPr id="137" name="ph1i2"/>
          <p:cNvSpPr/>
          <p:nvPr/>
        </p:nvSpPr>
        <p:spPr>
          <a:xfrm>
            <a:off x="3335264" y="2825746"/>
            <a:ext cx="2533472" cy="408563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CCCCCC"/>
                </a:solidFill>
                <a:latin typeface="Calibri"/>
              </a:rPr>
              <a:t>— Day 3 — Mushroom Journey</a:t>
            </a:r>
          </a:p>
        </p:txBody>
      </p:sp>
      <p:sp>
        <p:nvSpPr>
          <p:cNvPr id="138" name="ph1i3"/>
          <p:cNvSpPr/>
          <p:nvPr/>
        </p:nvSpPr>
        <p:spPr>
          <a:xfrm>
            <a:off x="3335264" y="3234309"/>
            <a:ext cx="2533472" cy="408563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CCCCCC"/>
                </a:solidFill>
                <a:latin typeface="Calibri"/>
              </a:rPr>
              <a:t>— Day 4 — Breathwork &amp; Hike</a:t>
            </a:r>
          </a:p>
        </p:txBody>
      </p:sp>
      <p:sp>
        <p:nvSpPr>
          <p:cNvPr id="139" name="ph1i4"/>
          <p:cNvSpPr/>
          <p:nvPr/>
        </p:nvSpPr>
        <p:spPr>
          <a:xfrm>
            <a:off x="3335264" y="3642872"/>
            <a:ext cx="2533472" cy="408563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CCCCCC"/>
                </a:solidFill>
                <a:latin typeface="Calibri"/>
              </a:rPr>
              <a:t>— Day 5 — Fire Ceremony</a:t>
            </a:r>
          </a:p>
        </p:txBody>
      </p:sp>
      <p:sp>
        <p:nvSpPr>
          <p:cNvPr id="140" name="ph1i5"/>
          <p:cNvSpPr/>
          <p:nvPr/>
        </p:nvSpPr>
        <p:spPr>
          <a:xfrm>
            <a:off x="3335264" y="4051435"/>
            <a:ext cx="2533472" cy="408563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CCCCCC"/>
                </a:solidFill>
                <a:latin typeface="Calibri"/>
              </a:rPr>
              <a:t>— Day 6 — Integration &amp; Closing</a:t>
            </a:r>
          </a:p>
        </p:txBody>
      </p:sp>
      <p:sp>
        <p:nvSpPr>
          <p:cNvPr id="160" name="ph2bg"/>
          <p:cNvSpPr/>
          <p:nvPr/>
        </p:nvSpPr>
        <p:spPr>
          <a:xfrm>
            <a:off x="6053328" y="1280000"/>
            <a:ext cx="2633472" cy="3200000"/>
          </a:xfrm>
          <a:prstGeom prst="rect">
            <a:avLst/>
          </a:prstGeom>
          <a:solidFill>
            <a:srgbClr val="F5F5F5"/>
          </a:solidFill>
          <a:ln w="9525">
            <a:solidFill>
              <a:srgbClr val="888888"/>
            </a:solidFill>
          </a:ln>
        </p:spPr>
      </p:sp>
      <p:sp>
        <p:nvSpPr>
          <p:cNvPr id="161" name="ph2hdr"/>
          <p:cNvSpPr/>
          <p:nvPr/>
        </p:nvSpPr>
        <p:spPr>
          <a:xfrm>
            <a:off x="6053328" y="1280000"/>
            <a:ext cx="2633472" cy="388620"/>
          </a:xfrm>
          <a:prstGeom prst="rect">
            <a:avLst/>
          </a:prstGeom>
          <a:solidFill>
            <a:srgbClr val="333333"/>
          </a:solidFill>
          <a:ln w="9525">
            <a:solidFill>
              <a:srgbClr val="444444"/>
            </a:solidFill>
          </a:ln>
        </p:spPr>
      </p:sp>
      <p:sp>
        <p:nvSpPr>
          <p:cNvPr id="162" name="ph2lbl"/>
          <p:cNvSpPr/>
          <p:nvPr/>
        </p:nvSpPr>
        <p:spPr>
          <a:xfrm>
            <a:off x="6113328" y="1300000"/>
            <a:ext cx="2553472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900" b="1" i="0" dirty="0">
                <a:solidFill>
                  <a:srgbClr val="FFFFFF"/>
                </a:solidFill>
                <a:latin typeface="Georgia"/>
              </a:rPr>
              <a:t>POST INTEGRATION</a:t>
            </a:r>
          </a:p>
        </p:txBody>
      </p:sp>
      <p:sp>
        <p:nvSpPr>
          <p:cNvPr id="163" name="ph2sub"/>
          <p:cNvSpPr/>
          <p:nvPr/>
        </p:nvSpPr>
        <p:spPr>
          <a:xfrm>
            <a:off x="6093328" y="1688620"/>
            <a:ext cx="2573472" cy="26000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888888"/>
                </a:solidFill>
                <a:latin typeface="Georgia"/>
              </a:rPr>
              <a:t>Digital</a:t>
            </a:r>
          </a:p>
        </p:txBody>
      </p:sp>
      <p:sp>
        <p:nvSpPr>
          <p:cNvPr id="164" name="ph2line"/>
          <p:cNvSpPr/>
          <p:nvPr/>
        </p:nvSpPr>
        <p:spPr>
          <a:xfrm>
            <a:off x="6113328" y="1968620"/>
            <a:ext cx="2513472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165" name="ph2i0"/>
          <p:cNvSpPr/>
          <p:nvPr/>
        </p:nvSpPr>
        <p:spPr>
          <a:xfrm>
            <a:off x="6133328" y="2008620"/>
            <a:ext cx="2533472" cy="490276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Assessments</a:t>
            </a:r>
          </a:p>
        </p:txBody>
      </p:sp>
      <p:sp>
        <p:nvSpPr>
          <p:cNvPr id="166" name="ph2i1"/>
          <p:cNvSpPr/>
          <p:nvPr/>
        </p:nvSpPr>
        <p:spPr>
          <a:xfrm>
            <a:off x="6133328" y="2498896"/>
            <a:ext cx="2533472" cy="490276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1:1 Integration sessions</a:t>
            </a:r>
          </a:p>
        </p:txBody>
      </p:sp>
      <p:sp>
        <p:nvSpPr>
          <p:cNvPr id="167" name="ph2i2"/>
          <p:cNvSpPr/>
          <p:nvPr/>
        </p:nvSpPr>
        <p:spPr>
          <a:xfrm>
            <a:off x="6133328" y="2989172"/>
            <a:ext cx="2533472" cy="490276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Group integration</a:t>
            </a:r>
          </a:p>
        </p:txBody>
      </p:sp>
      <p:sp>
        <p:nvSpPr>
          <p:cNvPr id="168" name="ph2i3"/>
          <p:cNvSpPr/>
          <p:nvPr/>
        </p:nvSpPr>
        <p:spPr>
          <a:xfrm>
            <a:off x="6133328" y="3479448"/>
            <a:ext cx="2533472" cy="490276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Paired integration</a:t>
            </a:r>
          </a:p>
        </p:txBody>
      </p:sp>
      <p:sp>
        <p:nvSpPr>
          <p:cNvPr id="169" name="ph2i4"/>
          <p:cNvSpPr/>
          <p:nvPr/>
        </p:nvSpPr>
        <p:spPr>
          <a:xfrm>
            <a:off x="6133328" y="3969724"/>
            <a:ext cx="2533472" cy="490276"/>
          </a:xfrm>
          <a:prstGeom prst="rect">
            <a:avLst/>
          </a:prstGeom>
          <a:noFill/>
          <a:ln/>
        </p:spPr>
        <p:txBody>
          <a:bodyPr wrap="square" lIns="20000" tIns="5000" rIns="20000" bIns="5000" rtlCol="0" anchor="ctr"/>
          <a:lstStyle/>
          <a:p>
            <a:pPr algn="l" marL="0" indent="0">
              <a:buNone/>
            </a:pPr>
            <a:r>
              <a:rPr lang="en-US" sz="820" b="0" i="0" dirty="0">
                <a:solidFill>
                  <a:srgbClr val="555555"/>
                </a:solidFill>
                <a:latin typeface="Calibri"/>
              </a:rPr>
              <a:t>— Feedback</a:t>
            </a:r>
          </a:p>
        </p:txBody>
      </p:sp>
      <p:sp>
        <p:nvSpPr>
          <p:cNvPr id="4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PREPARATION PHASE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2400" b="1" i="0" dirty="0">
                <a:solidFill>
                  <a:srgbClr val="222222"/>
                </a:solidFill>
                <a:latin typeface="Georgia"/>
              </a:rPr>
              <a:t>Preparation Phase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1000" b="0" i="1" dirty="0">
                <a:solidFill>
                  <a:srgbClr val="555555"/>
                </a:solidFill>
                <a:latin typeface="Georgia"/>
              </a:rPr>
              <a:t>Digital · Pre-Arrival</a:t>
            </a:r>
          </a:p>
        </p:txBody>
      </p:sp>
      <p:sp>
        <p:nvSpPr>
          <p:cNvPr id="10" name="hbg1"/>
          <p:cNvSpPr/>
          <p:nvPr/>
        </p:nvSpPr>
        <p:spPr>
          <a:xfrm>
            <a:off x="457200" y="1350000"/>
            <a:ext cx="493776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hbg2"/>
          <p:cNvSpPr/>
          <p:nvPr/>
        </p:nvSpPr>
        <p:spPr>
          <a:xfrm>
            <a:off x="5394960" y="1350000"/>
            <a:ext cx="329184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2" name="ht1"/>
          <p:cNvSpPr/>
          <p:nvPr/>
        </p:nvSpPr>
        <p:spPr>
          <a:xfrm>
            <a:off x="517200" y="1380000"/>
            <a:ext cx="4877760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Task</a:t>
            </a:r>
          </a:p>
        </p:txBody>
      </p:sp>
      <p:sp>
        <p:nvSpPr>
          <p:cNvPr id="13" name="ht2"/>
          <p:cNvSpPr/>
          <p:nvPr/>
        </p:nvSpPr>
        <p:spPr>
          <a:xfrm>
            <a:off x="5454960" y="1380000"/>
            <a:ext cx="3231840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Duration</a:t>
            </a:r>
          </a:p>
        </p:txBody>
      </p:sp>
      <p:sp>
        <p:nvSpPr>
          <p:cNvPr id="14" name="r0c1bg"/>
          <p:cNvSpPr/>
          <p:nvPr/>
        </p:nvSpPr>
        <p:spPr>
          <a:xfrm>
            <a:off x="457200" y="1738620"/>
            <a:ext cx="4937760" cy="3514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5" name="r0c2bg"/>
          <p:cNvSpPr/>
          <p:nvPr/>
        </p:nvSpPr>
        <p:spPr>
          <a:xfrm>
            <a:off x="5394960" y="1738620"/>
            <a:ext cx="329184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6" name="r0t1"/>
          <p:cNvSpPr/>
          <p:nvPr/>
        </p:nvSpPr>
        <p:spPr>
          <a:xfrm>
            <a:off x="517200" y="1768620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Screening</a:t>
            </a:r>
          </a:p>
        </p:txBody>
      </p:sp>
      <p:sp>
        <p:nvSpPr>
          <p:cNvPr id="17" name="r0t2"/>
          <p:cNvSpPr/>
          <p:nvPr/>
        </p:nvSpPr>
        <p:spPr>
          <a:xfrm>
            <a:off x="5454960" y="1768620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30 minutes</a:t>
            </a:r>
          </a:p>
        </p:txBody>
      </p:sp>
      <p:sp>
        <p:nvSpPr>
          <p:cNvPr id="18" name="r1c1bg"/>
          <p:cNvSpPr/>
          <p:nvPr/>
        </p:nvSpPr>
        <p:spPr>
          <a:xfrm>
            <a:off x="457200" y="2090042"/>
            <a:ext cx="493776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9" name="r1c2bg"/>
          <p:cNvSpPr/>
          <p:nvPr/>
        </p:nvSpPr>
        <p:spPr>
          <a:xfrm>
            <a:off x="5394960" y="2090042"/>
            <a:ext cx="3291840" cy="3514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0" name="r1t1"/>
          <p:cNvSpPr/>
          <p:nvPr/>
        </p:nvSpPr>
        <p:spPr>
          <a:xfrm>
            <a:off x="517200" y="2120042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Intake package</a:t>
            </a:r>
          </a:p>
        </p:txBody>
      </p:sp>
      <p:sp>
        <p:nvSpPr>
          <p:cNvPr id="21" name="r1t2"/>
          <p:cNvSpPr/>
          <p:nvPr/>
        </p:nvSpPr>
        <p:spPr>
          <a:xfrm>
            <a:off x="5454960" y="2120042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1–2 hours</a:t>
            </a:r>
          </a:p>
        </p:txBody>
      </p:sp>
      <p:sp>
        <p:nvSpPr>
          <p:cNvPr id="22" name="r2c1bg"/>
          <p:cNvSpPr/>
          <p:nvPr/>
        </p:nvSpPr>
        <p:spPr>
          <a:xfrm>
            <a:off x="457200" y="2441464"/>
            <a:ext cx="4937760" cy="3514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3" name="r2c2bg"/>
          <p:cNvSpPr/>
          <p:nvPr/>
        </p:nvSpPr>
        <p:spPr>
          <a:xfrm>
            <a:off x="5394960" y="2441464"/>
            <a:ext cx="329184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4" name="r2t1"/>
          <p:cNvSpPr/>
          <p:nvPr/>
        </p:nvSpPr>
        <p:spPr>
          <a:xfrm>
            <a:off x="517200" y="2471464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1:1 Intake meeting with facilitator</a:t>
            </a:r>
          </a:p>
        </p:txBody>
      </p:sp>
      <p:sp>
        <p:nvSpPr>
          <p:cNvPr id="25" name="r2t2"/>
          <p:cNvSpPr/>
          <p:nvPr/>
        </p:nvSpPr>
        <p:spPr>
          <a:xfrm>
            <a:off x="5454960" y="2471464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1–2 hours</a:t>
            </a:r>
          </a:p>
        </p:txBody>
      </p:sp>
      <p:sp>
        <p:nvSpPr>
          <p:cNvPr id="26" name="r3c1bg"/>
          <p:cNvSpPr/>
          <p:nvPr/>
        </p:nvSpPr>
        <p:spPr>
          <a:xfrm>
            <a:off x="457200" y="2792886"/>
            <a:ext cx="493776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7" name="r3c2bg"/>
          <p:cNvSpPr/>
          <p:nvPr/>
        </p:nvSpPr>
        <p:spPr>
          <a:xfrm>
            <a:off x="5394960" y="2792886"/>
            <a:ext cx="3291840" cy="3514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8" name="r3t1"/>
          <p:cNvSpPr/>
          <p:nvPr/>
        </p:nvSpPr>
        <p:spPr>
          <a:xfrm>
            <a:off x="517200" y="2822886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Assessments</a:t>
            </a:r>
          </a:p>
        </p:txBody>
      </p:sp>
      <p:sp>
        <p:nvSpPr>
          <p:cNvPr id="29" name="r3t2"/>
          <p:cNvSpPr/>
          <p:nvPr/>
        </p:nvSpPr>
        <p:spPr>
          <a:xfrm>
            <a:off x="5454960" y="2822886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30" name="r4c1bg"/>
          <p:cNvSpPr/>
          <p:nvPr/>
        </p:nvSpPr>
        <p:spPr>
          <a:xfrm>
            <a:off x="457200" y="3144308"/>
            <a:ext cx="4937760" cy="3514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1" name="r4c2bg"/>
          <p:cNvSpPr/>
          <p:nvPr/>
        </p:nvSpPr>
        <p:spPr>
          <a:xfrm>
            <a:off x="5394960" y="3144308"/>
            <a:ext cx="329184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2" name="r4t1"/>
          <p:cNvSpPr/>
          <p:nvPr/>
        </p:nvSpPr>
        <p:spPr>
          <a:xfrm>
            <a:off x="517200" y="3174308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Group meet and greet</a:t>
            </a:r>
          </a:p>
        </p:txBody>
      </p:sp>
      <p:sp>
        <p:nvSpPr>
          <p:cNvPr id="33" name="r4t2"/>
          <p:cNvSpPr/>
          <p:nvPr/>
        </p:nvSpPr>
        <p:spPr>
          <a:xfrm>
            <a:off x="5454960" y="3174308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34" name="r5c1bg"/>
          <p:cNvSpPr/>
          <p:nvPr/>
        </p:nvSpPr>
        <p:spPr>
          <a:xfrm>
            <a:off x="457200" y="3495730"/>
            <a:ext cx="493776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5" name="r5c2bg"/>
          <p:cNvSpPr/>
          <p:nvPr/>
        </p:nvSpPr>
        <p:spPr>
          <a:xfrm>
            <a:off x="5394960" y="3495730"/>
            <a:ext cx="3291840" cy="3514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36" name="r5t1"/>
          <p:cNvSpPr/>
          <p:nvPr/>
        </p:nvSpPr>
        <p:spPr>
          <a:xfrm>
            <a:off x="517200" y="3525730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Buddy meet and greet</a:t>
            </a:r>
          </a:p>
        </p:txBody>
      </p:sp>
      <p:sp>
        <p:nvSpPr>
          <p:cNvPr id="37" name="r5t2"/>
          <p:cNvSpPr/>
          <p:nvPr/>
        </p:nvSpPr>
        <p:spPr>
          <a:xfrm>
            <a:off x="5454960" y="3525730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38" name="r6c1bg"/>
          <p:cNvSpPr/>
          <p:nvPr/>
        </p:nvSpPr>
        <p:spPr>
          <a:xfrm>
            <a:off x="457200" y="3847152"/>
            <a:ext cx="4937760" cy="3514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9" name="r6c2bg"/>
          <p:cNvSpPr/>
          <p:nvPr/>
        </p:nvSpPr>
        <p:spPr>
          <a:xfrm>
            <a:off x="5394960" y="3847152"/>
            <a:ext cx="329184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0" name="r6t1"/>
          <p:cNvSpPr/>
          <p:nvPr/>
        </p:nvSpPr>
        <p:spPr>
          <a:xfrm>
            <a:off x="517200" y="3877152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Setting intentions guidance</a:t>
            </a:r>
          </a:p>
        </p:txBody>
      </p:sp>
      <p:sp>
        <p:nvSpPr>
          <p:cNvPr id="41" name="r6t2"/>
          <p:cNvSpPr/>
          <p:nvPr/>
        </p:nvSpPr>
        <p:spPr>
          <a:xfrm>
            <a:off x="5454960" y="3877152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42" name="r7c1bg"/>
          <p:cNvSpPr/>
          <p:nvPr/>
        </p:nvSpPr>
        <p:spPr>
          <a:xfrm>
            <a:off x="457200" y="4198574"/>
            <a:ext cx="4937760" cy="3514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3" name="r7c2bg"/>
          <p:cNvSpPr/>
          <p:nvPr/>
        </p:nvSpPr>
        <p:spPr>
          <a:xfrm>
            <a:off x="5394960" y="4198574"/>
            <a:ext cx="3291840" cy="3514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44" name="r7t1"/>
          <p:cNvSpPr/>
          <p:nvPr/>
        </p:nvSpPr>
        <p:spPr>
          <a:xfrm>
            <a:off x="517200" y="4228574"/>
            <a:ext cx="485776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Science &amp; art of psychedelics, overview of program, Q&amp;A</a:t>
            </a:r>
          </a:p>
        </p:txBody>
      </p:sp>
      <p:sp>
        <p:nvSpPr>
          <p:cNvPr id="45" name="r7t2"/>
          <p:cNvSpPr/>
          <p:nvPr/>
        </p:nvSpPr>
        <p:spPr>
          <a:xfrm>
            <a:off x="5454960" y="4228574"/>
            <a:ext cx="3211840" cy="3114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90 minutes</a:t>
            </a:r>
          </a:p>
        </p:txBody>
      </p:sp>
      <p:sp>
        <p:nvSpPr>
          <p:cNvPr id="4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CEREMONY PHASE — IN-PERSON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2400" b="1" i="0" dirty="0">
                <a:solidFill>
                  <a:srgbClr val="222222"/>
                </a:solidFill>
                <a:latin typeface="Georgia"/>
              </a:rPr>
              <a:t>Day 1 — Landing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1000" b="0" i="1" dirty="0">
                <a:solidFill>
                  <a:srgbClr val="555555"/>
                </a:solidFill>
                <a:latin typeface="Georgia"/>
              </a:rPr>
              <a:t>Arrival &amp; Orientation</a:t>
            </a:r>
          </a:p>
        </p:txBody>
      </p:sp>
      <p:sp>
        <p:nvSpPr>
          <p:cNvPr id="10" name="hbg1"/>
          <p:cNvSpPr/>
          <p:nvPr/>
        </p:nvSpPr>
        <p:spPr>
          <a:xfrm>
            <a:off x="457200" y="1350000"/>
            <a:ext cx="2633472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hbg2"/>
          <p:cNvSpPr/>
          <p:nvPr/>
        </p:nvSpPr>
        <p:spPr>
          <a:xfrm>
            <a:off x="3090672" y="1350000"/>
            <a:ext cx="5596128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2" name="ht1"/>
          <p:cNvSpPr/>
          <p:nvPr/>
        </p:nvSpPr>
        <p:spPr>
          <a:xfrm>
            <a:off x="517200" y="1380000"/>
            <a:ext cx="2573472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Time</a:t>
            </a:r>
          </a:p>
        </p:txBody>
      </p:sp>
      <p:sp>
        <p:nvSpPr>
          <p:cNvPr id="13" name="ht2"/>
          <p:cNvSpPr/>
          <p:nvPr/>
        </p:nvSpPr>
        <p:spPr>
          <a:xfrm>
            <a:off x="3150672" y="1380000"/>
            <a:ext cx="5536128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Activity</a:t>
            </a:r>
          </a:p>
        </p:txBody>
      </p:sp>
      <p:sp>
        <p:nvSpPr>
          <p:cNvPr id="14" name="r0c1bg"/>
          <p:cNvSpPr/>
          <p:nvPr/>
        </p:nvSpPr>
        <p:spPr>
          <a:xfrm>
            <a:off x="457200" y="1738620"/>
            <a:ext cx="2633472" cy="4704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5" name="r0c2bg"/>
          <p:cNvSpPr/>
          <p:nvPr/>
        </p:nvSpPr>
        <p:spPr>
          <a:xfrm>
            <a:off x="3090672" y="1738620"/>
            <a:ext cx="5596128" cy="4704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6" name="r0t1"/>
          <p:cNvSpPr/>
          <p:nvPr/>
        </p:nvSpPr>
        <p:spPr>
          <a:xfrm>
            <a:off x="517200" y="1768620"/>
            <a:ext cx="2553472" cy="430460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15:00 – 18:00</a:t>
            </a:r>
          </a:p>
        </p:txBody>
      </p:sp>
      <p:sp>
        <p:nvSpPr>
          <p:cNvPr id="17" name="r0t2"/>
          <p:cNvSpPr/>
          <p:nvPr/>
        </p:nvSpPr>
        <p:spPr>
          <a:xfrm>
            <a:off x="3150672" y="1768620"/>
            <a:ext cx="5516128" cy="430460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Arrivals &amp; check-in</a:t>
            </a:r>
          </a:p>
        </p:txBody>
      </p:sp>
      <p:sp>
        <p:nvSpPr>
          <p:cNvPr id="18" name="r1c1bg"/>
          <p:cNvSpPr/>
          <p:nvPr/>
        </p:nvSpPr>
        <p:spPr>
          <a:xfrm>
            <a:off x="457200" y="2209080"/>
            <a:ext cx="2633472" cy="4704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9" name="r1c2bg"/>
          <p:cNvSpPr/>
          <p:nvPr/>
        </p:nvSpPr>
        <p:spPr>
          <a:xfrm>
            <a:off x="3090672" y="2209080"/>
            <a:ext cx="5596128" cy="47046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0" name="r1t1"/>
          <p:cNvSpPr/>
          <p:nvPr/>
        </p:nvSpPr>
        <p:spPr>
          <a:xfrm>
            <a:off x="517200" y="2239080"/>
            <a:ext cx="2553472" cy="430460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18:30 – 20:00</a:t>
            </a:r>
          </a:p>
        </p:txBody>
      </p:sp>
      <p:sp>
        <p:nvSpPr>
          <p:cNvPr id="21" name="r1t2"/>
          <p:cNvSpPr/>
          <p:nvPr/>
        </p:nvSpPr>
        <p:spPr>
          <a:xfrm>
            <a:off x="3150672" y="2239080"/>
            <a:ext cx="5516128" cy="430460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Dinner together</a:t>
            </a:r>
          </a:p>
        </p:txBody>
      </p:sp>
      <p:sp>
        <p:nvSpPr>
          <p:cNvPr id="22" name="r2c1bg"/>
          <p:cNvSpPr/>
          <p:nvPr/>
        </p:nvSpPr>
        <p:spPr>
          <a:xfrm>
            <a:off x="457200" y="2679540"/>
            <a:ext cx="2633472" cy="4704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3" name="r2c2bg"/>
          <p:cNvSpPr/>
          <p:nvPr/>
        </p:nvSpPr>
        <p:spPr>
          <a:xfrm>
            <a:off x="3090672" y="2679540"/>
            <a:ext cx="5596128" cy="4704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4" name="r2t1"/>
          <p:cNvSpPr/>
          <p:nvPr/>
        </p:nvSpPr>
        <p:spPr>
          <a:xfrm>
            <a:off x="517200" y="2709540"/>
            <a:ext cx="2553472" cy="430460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20:00 – 20:30</a:t>
            </a:r>
          </a:p>
        </p:txBody>
      </p:sp>
      <p:sp>
        <p:nvSpPr>
          <p:cNvPr id="25" name="r2t2"/>
          <p:cNvSpPr/>
          <p:nvPr/>
        </p:nvSpPr>
        <p:spPr>
          <a:xfrm>
            <a:off x="3150672" y="2709540"/>
            <a:ext cx="5516128" cy="430460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Agenda debrief</a:t>
            </a:r>
          </a:p>
        </p:txBody>
      </p:sp>
      <p:sp>
        <p:nvSpPr>
          <p:cNvPr id="4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CEREMONY PHASE — IN-PERSON</a:t>
            </a:r>
          </a:p>
        </p:txBody>
      </p:sp>
      <p:sp>
        <p:nvSpPr>
          <p:cNvPr id="10" name="dh10"/>
          <p:cNvSpPr/>
          <p:nvPr/>
        </p:nvSpPr>
        <p:spPr>
          <a:xfrm>
            <a:off x="457200" y="548640"/>
            <a:ext cx="400050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dht10"/>
          <p:cNvSpPr/>
          <p:nvPr/>
        </p:nvSpPr>
        <p:spPr>
          <a:xfrm>
            <a:off x="517200" y="568640"/>
            <a:ext cx="3920500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FFFFFF"/>
                </a:solidFill>
                <a:latin typeface="Georgia"/>
              </a:rPr>
              <a:t>Day 2 — Opening &amp; Intentions</a:t>
            </a:r>
          </a:p>
        </p:txBody>
      </p:sp>
      <p:sp>
        <p:nvSpPr>
          <p:cNvPr id="12" name="rb10_0a"/>
          <p:cNvSpPr/>
          <p:nvPr/>
        </p:nvSpPr>
        <p:spPr>
          <a:xfrm>
            <a:off x="457200" y="93726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3" name="rb10_0b"/>
          <p:cNvSpPr/>
          <p:nvPr/>
        </p:nvSpPr>
        <p:spPr>
          <a:xfrm>
            <a:off x="1897380" y="93726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4" name="rt10_0a"/>
          <p:cNvSpPr/>
          <p:nvPr/>
        </p:nvSpPr>
        <p:spPr>
          <a:xfrm>
            <a:off x="487200" y="95726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7:00 – 8:00</a:t>
            </a:r>
          </a:p>
        </p:txBody>
      </p:sp>
      <p:sp>
        <p:nvSpPr>
          <p:cNvPr id="15" name="rt10_0b"/>
          <p:cNvSpPr/>
          <p:nvPr/>
        </p:nvSpPr>
        <p:spPr>
          <a:xfrm>
            <a:off x="1927380" y="95726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Optional Yoga, Movement, Walk</a:t>
            </a:r>
          </a:p>
        </p:txBody>
      </p:sp>
      <p:sp>
        <p:nvSpPr>
          <p:cNvPr id="16" name="rb10_1a"/>
          <p:cNvSpPr/>
          <p:nvPr/>
        </p:nvSpPr>
        <p:spPr>
          <a:xfrm>
            <a:off x="457200" y="134963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7" name="rb10_1b"/>
          <p:cNvSpPr/>
          <p:nvPr/>
        </p:nvSpPr>
        <p:spPr>
          <a:xfrm>
            <a:off x="1897380" y="134963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18" name="rt10_1a"/>
          <p:cNvSpPr/>
          <p:nvPr/>
        </p:nvSpPr>
        <p:spPr>
          <a:xfrm>
            <a:off x="487200" y="136963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8:00 – 9:00</a:t>
            </a:r>
          </a:p>
        </p:txBody>
      </p:sp>
      <p:sp>
        <p:nvSpPr>
          <p:cNvPr id="19" name="rt10_1b"/>
          <p:cNvSpPr/>
          <p:nvPr/>
        </p:nvSpPr>
        <p:spPr>
          <a:xfrm>
            <a:off x="1927380" y="136963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Breakfast</a:t>
            </a:r>
          </a:p>
        </p:txBody>
      </p:sp>
      <p:sp>
        <p:nvSpPr>
          <p:cNvPr id="20" name="rb10_2a"/>
          <p:cNvSpPr/>
          <p:nvPr/>
        </p:nvSpPr>
        <p:spPr>
          <a:xfrm>
            <a:off x="457200" y="176201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1" name="rb10_2b"/>
          <p:cNvSpPr/>
          <p:nvPr/>
        </p:nvSpPr>
        <p:spPr>
          <a:xfrm>
            <a:off x="1897380" y="176201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" name="rt10_2a"/>
          <p:cNvSpPr/>
          <p:nvPr/>
        </p:nvSpPr>
        <p:spPr>
          <a:xfrm>
            <a:off x="487200" y="178201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9:30 – 11:00</a:t>
            </a:r>
          </a:p>
        </p:txBody>
      </p:sp>
      <p:sp>
        <p:nvSpPr>
          <p:cNvPr id="23" name="rt10_2b"/>
          <p:cNvSpPr/>
          <p:nvPr/>
        </p:nvSpPr>
        <p:spPr>
          <a:xfrm>
            <a:off x="1927380" y="178201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Opening Ceremony</a:t>
            </a:r>
          </a:p>
        </p:txBody>
      </p:sp>
      <p:sp>
        <p:nvSpPr>
          <p:cNvPr id="24" name="rb10_3a"/>
          <p:cNvSpPr/>
          <p:nvPr/>
        </p:nvSpPr>
        <p:spPr>
          <a:xfrm>
            <a:off x="457200" y="217438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5" name="rb10_3b"/>
          <p:cNvSpPr/>
          <p:nvPr/>
        </p:nvSpPr>
        <p:spPr>
          <a:xfrm>
            <a:off x="1897380" y="217438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6" name="rt10_3a"/>
          <p:cNvSpPr/>
          <p:nvPr/>
        </p:nvSpPr>
        <p:spPr>
          <a:xfrm>
            <a:off x="487200" y="219438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11:00 – 12:00</a:t>
            </a:r>
          </a:p>
        </p:txBody>
      </p:sp>
      <p:sp>
        <p:nvSpPr>
          <p:cNvPr id="27" name="rt10_3b"/>
          <p:cNvSpPr/>
          <p:nvPr/>
        </p:nvSpPr>
        <p:spPr>
          <a:xfrm>
            <a:off x="1927380" y="219438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Intentions</a:t>
            </a:r>
          </a:p>
        </p:txBody>
      </p:sp>
      <p:sp>
        <p:nvSpPr>
          <p:cNvPr id="28" name="rb10_4a"/>
          <p:cNvSpPr/>
          <p:nvPr/>
        </p:nvSpPr>
        <p:spPr>
          <a:xfrm>
            <a:off x="457200" y="258676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9" name="rb10_4b"/>
          <p:cNvSpPr/>
          <p:nvPr/>
        </p:nvSpPr>
        <p:spPr>
          <a:xfrm>
            <a:off x="1897380" y="258676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0" name="rt10_4a"/>
          <p:cNvSpPr/>
          <p:nvPr/>
        </p:nvSpPr>
        <p:spPr>
          <a:xfrm>
            <a:off x="487200" y="260676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12:00 – 12:30</a:t>
            </a:r>
          </a:p>
        </p:txBody>
      </p:sp>
      <p:sp>
        <p:nvSpPr>
          <p:cNvPr id="31" name="rt10_4b"/>
          <p:cNvSpPr/>
          <p:nvPr/>
        </p:nvSpPr>
        <p:spPr>
          <a:xfrm>
            <a:off x="1927380" y="260676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Pre-journey Letter to Self</a:t>
            </a:r>
          </a:p>
        </p:txBody>
      </p:sp>
      <p:sp>
        <p:nvSpPr>
          <p:cNvPr id="32" name="rb10_5a"/>
          <p:cNvSpPr/>
          <p:nvPr/>
        </p:nvSpPr>
        <p:spPr>
          <a:xfrm>
            <a:off x="457200" y="299913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3" name="rb10_5b"/>
          <p:cNvSpPr/>
          <p:nvPr/>
        </p:nvSpPr>
        <p:spPr>
          <a:xfrm>
            <a:off x="1897380" y="299913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34" name="rt10_5a"/>
          <p:cNvSpPr/>
          <p:nvPr/>
        </p:nvSpPr>
        <p:spPr>
          <a:xfrm>
            <a:off x="487200" y="301913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12:30 – 14:00</a:t>
            </a:r>
          </a:p>
        </p:txBody>
      </p:sp>
      <p:sp>
        <p:nvSpPr>
          <p:cNvPr id="35" name="rt10_5b"/>
          <p:cNvSpPr/>
          <p:nvPr/>
        </p:nvSpPr>
        <p:spPr>
          <a:xfrm>
            <a:off x="1927380" y="301913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Lunch with your buddy</a:t>
            </a:r>
          </a:p>
        </p:txBody>
      </p:sp>
      <p:sp>
        <p:nvSpPr>
          <p:cNvPr id="36" name="rb10_6a"/>
          <p:cNvSpPr/>
          <p:nvPr/>
        </p:nvSpPr>
        <p:spPr>
          <a:xfrm>
            <a:off x="457200" y="341151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7" name="rb10_6b"/>
          <p:cNvSpPr/>
          <p:nvPr/>
        </p:nvSpPr>
        <p:spPr>
          <a:xfrm>
            <a:off x="1897380" y="341151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8" name="rt10_6a"/>
          <p:cNvSpPr/>
          <p:nvPr/>
        </p:nvSpPr>
        <p:spPr>
          <a:xfrm>
            <a:off x="487200" y="343151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14:00 – 17:00</a:t>
            </a:r>
          </a:p>
        </p:txBody>
      </p:sp>
      <p:sp>
        <p:nvSpPr>
          <p:cNvPr id="39" name="rt10_6b"/>
          <p:cNvSpPr/>
          <p:nvPr/>
        </p:nvSpPr>
        <p:spPr>
          <a:xfrm>
            <a:off x="1927380" y="343151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My History Constellations Exercise</a:t>
            </a:r>
          </a:p>
        </p:txBody>
      </p:sp>
      <p:sp>
        <p:nvSpPr>
          <p:cNvPr id="40" name="rb10_7a"/>
          <p:cNvSpPr/>
          <p:nvPr/>
        </p:nvSpPr>
        <p:spPr>
          <a:xfrm>
            <a:off x="457200" y="382388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1" name="rb10_7b"/>
          <p:cNvSpPr/>
          <p:nvPr/>
        </p:nvSpPr>
        <p:spPr>
          <a:xfrm>
            <a:off x="1897380" y="382388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42" name="rt10_7a"/>
          <p:cNvSpPr/>
          <p:nvPr/>
        </p:nvSpPr>
        <p:spPr>
          <a:xfrm>
            <a:off x="487200" y="384388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17:00 – 18:00</a:t>
            </a:r>
          </a:p>
        </p:txBody>
      </p:sp>
      <p:sp>
        <p:nvSpPr>
          <p:cNvPr id="43" name="rt10_7b"/>
          <p:cNvSpPr/>
          <p:nvPr/>
        </p:nvSpPr>
        <p:spPr>
          <a:xfrm>
            <a:off x="1927380" y="384388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Sharing Circle</a:t>
            </a:r>
          </a:p>
        </p:txBody>
      </p:sp>
      <p:sp>
        <p:nvSpPr>
          <p:cNvPr id="44" name="rb10_8a"/>
          <p:cNvSpPr/>
          <p:nvPr/>
        </p:nvSpPr>
        <p:spPr>
          <a:xfrm>
            <a:off x="457200" y="423626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45" name="rb10_8b"/>
          <p:cNvSpPr/>
          <p:nvPr/>
        </p:nvSpPr>
        <p:spPr>
          <a:xfrm>
            <a:off x="1897380" y="423626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6" name="rt10_8a"/>
          <p:cNvSpPr/>
          <p:nvPr/>
        </p:nvSpPr>
        <p:spPr>
          <a:xfrm>
            <a:off x="487200" y="425626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18:30</a:t>
            </a:r>
          </a:p>
        </p:txBody>
      </p:sp>
      <p:sp>
        <p:nvSpPr>
          <p:cNvPr id="47" name="rt10_8b"/>
          <p:cNvSpPr/>
          <p:nvPr/>
        </p:nvSpPr>
        <p:spPr>
          <a:xfrm>
            <a:off x="1927380" y="425626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Dinner</a:t>
            </a:r>
          </a:p>
        </p:txBody>
      </p:sp>
      <p:sp>
        <p:nvSpPr>
          <p:cNvPr id="200" name="dh200"/>
          <p:cNvSpPr/>
          <p:nvPr/>
        </p:nvSpPr>
        <p:spPr>
          <a:xfrm>
            <a:off x="4686300" y="548640"/>
            <a:ext cx="400050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201" name="dht200"/>
          <p:cNvSpPr/>
          <p:nvPr/>
        </p:nvSpPr>
        <p:spPr>
          <a:xfrm>
            <a:off x="4746300" y="568640"/>
            <a:ext cx="3920500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FFFFFF"/>
                </a:solidFill>
                <a:latin typeface="Georgia"/>
              </a:rPr>
              <a:t>Day 3 — Mushroom Journey</a:t>
            </a:r>
          </a:p>
        </p:txBody>
      </p:sp>
      <p:sp>
        <p:nvSpPr>
          <p:cNvPr id="202" name="rb200_0a"/>
          <p:cNvSpPr/>
          <p:nvPr/>
        </p:nvSpPr>
        <p:spPr>
          <a:xfrm>
            <a:off x="4686300" y="937260"/>
            <a:ext cx="1440180" cy="5301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03" name="rb200_0b"/>
          <p:cNvSpPr/>
          <p:nvPr/>
        </p:nvSpPr>
        <p:spPr>
          <a:xfrm>
            <a:off x="6126480" y="937260"/>
            <a:ext cx="256032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04" name="rt200_0a"/>
          <p:cNvSpPr/>
          <p:nvPr/>
        </p:nvSpPr>
        <p:spPr>
          <a:xfrm>
            <a:off x="4716300" y="957260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7:00 – 8:00</a:t>
            </a:r>
          </a:p>
        </p:txBody>
      </p:sp>
      <p:sp>
        <p:nvSpPr>
          <p:cNvPr id="205" name="rt200_0b"/>
          <p:cNvSpPr/>
          <p:nvPr/>
        </p:nvSpPr>
        <p:spPr>
          <a:xfrm>
            <a:off x="6156480" y="957260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Optional Yoga, Movement, Walk</a:t>
            </a:r>
          </a:p>
        </p:txBody>
      </p:sp>
      <p:sp>
        <p:nvSpPr>
          <p:cNvPr id="206" name="rb200_1a"/>
          <p:cNvSpPr/>
          <p:nvPr/>
        </p:nvSpPr>
        <p:spPr>
          <a:xfrm>
            <a:off x="4686300" y="1467457"/>
            <a:ext cx="144018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07" name="rb200_1b"/>
          <p:cNvSpPr/>
          <p:nvPr/>
        </p:nvSpPr>
        <p:spPr>
          <a:xfrm>
            <a:off x="6126480" y="1467457"/>
            <a:ext cx="2560320" cy="530197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08" name="rt200_1a"/>
          <p:cNvSpPr/>
          <p:nvPr/>
        </p:nvSpPr>
        <p:spPr>
          <a:xfrm>
            <a:off x="4716300" y="1487457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8:00 – 9:00</a:t>
            </a:r>
          </a:p>
        </p:txBody>
      </p:sp>
      <p:sp>
        <p:nvSpPr>
          <p:cNvPr id="209" name="rt200_1b"/>
          <p:cNvSpPr/>
          <p:nvPr/>
        </p:nvSpPr>
        <p:spPr>
          <a:xfrm>
            <a:off x="6156480" y="1487457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Breakfast</a:t>
            </a:r>
          </a:p>
        </p:txBody>
      </p:sp>
      <p:sp>
        <p:nvSpPr>
          <p:cNvPr id="210" name="rb200_2a"/>
          <p:cNvSpPr/>
          <p:nvPr/>
        </p:nvSpPr>
        <p:spPr>
          <a:xfrm>
            <a:off x="4686300" y="1997654"/>
            <a:ext cx="1440180" cy="5301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11" name="rb200_2b"/>
          <p:cNvSpPr/>
          <p:nvPr/>
        </p:nvSpPr>
        <p:spPr>
          <a:xfrm>
            <a:off x="6126480" y="1997654"/>
            <a:ext cx="256032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12" name="rt200_2a"/>
          <p:cNvSpPr/>
          <p:nvPr/>
        </p:nvSpPr>
        <p:spPr>
          <a:xfrm>
            <a:off x="4716300" y="2017654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9:30 – 10:30</a:t>
            </a:r>
          </a:p>
        </p:txBody>
      </p:sp>
      <p:sp>
        <p:nvSpPr>
          <p:cNvPr id="213" name="rt200_2b"/>
          <p:cNvSpPr/>
          <p:nvPr/>
        </p:nvSpPr>
        <p:spPr>
          <a:xfrm>
            <a:off x="6156480" y="2017654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Opening Ceremony</a:t>
            </a:r>
          </a:p>
        </p:txBody>
      </p:sp>
      <p:sp>
        <p:nvSpPr>
          <p:cNvPr id="214" name="rb200_3a"/>
          <p:cNvSpPr/>
          <p:nvPr/>
        </p:nvSpPr>
        <p:spPr>
          <a:xfrm>
            <a:off x="4686300" y="2527851"/>
            <a:ext cx="144018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15" name="rb200_3b"/>
          <p:cNvSpPr/>
          <p:nvPr/>
        </p:nvSpPr>
        <p:spPr>
          <a:xfrm>
            <a:off x="6126480" y="2527851"/>
            <a:ext cx="2560320" cy="530197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16" name="rt200_3a"/>
          <p:cNvSpPr/>
          <p:nvPr/>
        </p:nvSpPr>
        <p:spPr>
          <a:xfrm>
            <a:off x="4716300" y="2547851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10:30 – 11:00</a:t>
            </a:r>
          </a:p>
        </p:txBody>
      </p:sp>
      <p:sp>
        <p:nvSpPr>
          <p:cNvPr id="217" name="rt200_3b"/>
          <p:cNvSpPr/>
          <p:nvPr/>
        </p:nvSpPr>
        <p:spPr>
          <a:xfrm>
            <a:off x="6156480" y="2547851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Mushroom Tea Preparation</a:t>
            </a:r>
          </a:p>
        </p:txBody>
      </p:sp>
      <p:sp>
        <p:nvSpPr>
          <p:cNvPr id="218" name="rb200_4a"/>
          <p:cNvSpPr/>
          <p:nvPr/>
        </p:nvSpPr>
        <p:spPr>
          <a:xfrm>
            <a:off x="4686300" y="3058048"/>
            <a:ext cx="1440180" cy="5301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19" name="rb200_4b"/>
          <p:cNvSpPr/>
          <p:nvPr/>
        </p:nvSpPr>
        <p:spPr>
          <a:xfrm>
            <a:off x="6126480" y="3058048"/>
            <a:ext cx="256032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0" name="rt200_4a"/>
          <p:cNvSpPr/>
          <p:nvPr/>
        </p:nvSpPr>
        <p:spPr>
          <a:xfrm>
            <a:off x="4716300" y="3078048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11:00 – 17:00</a:t>
            </a:r>
          </a:p>
        </p:txBody>
      </p:sp>
      <p:sp>
        <p:nvSpPr>
          <p:cNvPr id="221" name="rt200_4b"/>
          <p:cNvSpPr/>
          <p:nvPr/>
        </p:nvSpPr>
        <p:spPr>
          <a:xfrm>
            <a:off x="6156480" y="3078048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Mushroom Journey</a:t>
            </a:r>
          </a:p>
        </p:txBody>
      </p:sp>
      <p:sp>
        <p:nvSpPr>
          <p:cNvPr id="222" name="rb200_5a"/>
          <p:cNvSpPr/>
          <p:nvPr/>
        </p:nvSpPr>
        <p:spPr>
          <a:xfrm>
            <a:off x="4686300" y="3588245"/>
            <a:ext cx="144018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3" name="rb200_5b"/>
          <p:cNvSpPr/>
          <p:nvPr/>
        </p:nvSpPr>
        <p:spPr>
          <a:xfrm>
            <a:off x="6126480" y="3588245"/>
            <a:ext cx="2560320" cy="530197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24" name="rt200_5a"/>
          <p:cNvSpPr/>
          <p:nvPr/>
        </p:nvSpPr>
        <p:spPr>
          <a:xfrm>
            <a:off x="4716300" y="3608245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17:00 – 18:30</a:t>
            </a:r>
          </a:p>
        </p:txBody>
      </p:sp>
      <p:sp>
        <p:nvSpPr>
          <p:cNvPr id="225" name="rt200_5b"/>
          <p:cNvSpPr/>
          <p:nvPr/>
        </p:nvSpPr>
        <p:spPr>
          <a:xfrm>
            <a:off x="6156480" y="3608245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Sharing Circle</a:t>
            </a:r>
          </a:p>
        </p:txBody>
      </p:sp>
      <p:sp>
        <p:nvSpPr>
          <p:cNvPr id="226" name="rb200_6a"/>
          <p:cNvSpPr/>
          <p:nvPr/>
        </p:nvSpPr>
        <p:spPr>
          <a:xfrm>
            <a:off x="4686300" y="4118442"/>
            <a:ext cx="1440180" cy="5301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27" name="rb200_6b"/>
          <p:cNvSpPr/>
          <p:nvPr/>
        </p:nvSpPr>
        <p:spPr>
          <a:xfrm>
            <a:off x="6126480" y="4118442"/>
            <a:ext cx="2560320" cy="53019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8" name="rt200_6a"/>
          <p:cNvSpPr/>
          <p:nvPr/>
        </p:nvSpPr>
        <p:spPr>
          <a:xfrm>
            <a:off x="4716300" y="4138442"/>
            <a:ext cx="140018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18:30</a:t>
            </a:r>
          </a:p>
        </p:txBody>
      </p:sp>
      <p:sp>
        <p:nvSpPr>
          <p:cNvPr id="229" name="rt200_6b"/>
          <p:cNvSpPr/>
          <p:nvPr/>
        </p:nvSpPr>
        <p:spPr>
          <a:xfrm>
            <a:off x="6156480" y="4138442"/>
            <a:ext cx="2520320" cy="500197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Dinner</a:t>
            </a:r>
          </a:p>
        </p:txBody>
      </p:sp>
      <p:sp>
        <p:nvSpPr>
          <p:cNvPr id="5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5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CEREMONY PHASE — IN-PERSON</a:t>
            </a:r>
          </a:p>
        </p:txBody>
      </p:sp>
      <p:sp>
        <p:nvSpPr>
          <p:cNvPr id="10" name="dh10"/>
          <p:cNvSpPr/>
          <p:nvPr/>
        </p:nvSpPr>
        <p:spPr>
          <a:xfrm>
            <a:off x="457200" y="548640"/>
            <a:ext cx="400050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dht10"/>
          <p:cNvSpPr/>
          <p:nvPr/>
        </p:nvSpPr>
        <p:spPr>
          <a:xfrm>
            <a:off x="517200" y="568640"/>
            <a:ext cx="3920500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FFFFFF"/>
                </a:solidFill>
                <a:latin typeface="Georgia"/>
              </a:rPr>
              <a:t>Day 4 — Breathwork &amp; Hike</a:t>
            </a:r>
          </a:p>
        </p:txBody>
      </p:sp>
      <p:sp>
        <p:nvSpPr>
          <p:cNvPr id="12" name="rb10_0a"/>
          <p:cNvSpPr/>
          <p:nvPr/>
        </p:nvSpPr>
        <p:spPr>
          <a:xfrm>
            <a:off x="457200" y="937260"/>
            <a:ext cx="1440180" cy="4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3" name="rb10_0b"/>
          <p:cNvSpPr/>
          <p:nvPr/>
        </p:nvSpPr>
        <p:spPr>
          <a:xfrm>
            <a:off x="1897380" y="937260"/>
            <a:ext cx="256032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4" name="rt10_0a"/>
          <p:cNvSpPr/>
          <p:nvPr/>
        </p:nvSpPr>
        <p:spPr>
          <a:xfrm>
            <a:off x="487200" y="957260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7:00 – 8:00</a:t>
            </a:r>
          </a:p>
        </p:txBody>
      </p:sp>
      <p:sp>
        <p:nvSpPr>
          <p:cNvPr id="15" name="rt10_0b"/>
          <p:cNvSpPr/>
          <p:nvPr/>
        </p:nvSpPr>
        <p:spPr>
          <a:xfrm>
            <a:off x="1927380" y="957260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Optional Yoga, Movement, Walk</a:t>
            </a:r>
          </a:p>
        </p:txBody>
      </p:sp>
      <p:sp>
        <p:nvSpPr>
          <p:cNvPr id="16" name="rb10_1a"/>
          <p:cNvSpPr/>
          <p:nvPr/>
        </p:nvSpPr>
        <p:spPr>
          <a:xfrm>
            <a:off x="457200" y="1401182"/>
            <a:ext cx="144018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7" name="rb10_1b"/>
          <p:cNvSpPr/>
          <p:nvPr/>
        </p:nvSpPr>
        <p:spPr>
          <a:xfrm>
            <a:off x="1897380" y="1401182"/>
            <a:ext cx="2560320" cy="4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18" name="rt10_1a"/>
          <p:cNvSpPr/>
          <p:nvPr/>
        </p:nvSpPr>
        <p:spPr>
          <a:xfrm>
            <a:off x="487200" y="1421182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8:00 – 9:00</a:t>
            </a:r>
          </a:p>
        </p:txBody>
      </p:sp>
      <p:sp>
        <p:nvSpPr>
          <p:cNvPr id="19" name="rt10_1b"/>
          <p:cNvSpPr/>
          <p:nvPr/>
        </p:nvSpPr>
        <p:spPr>
          <a:xfrm>
            <a:off x="1927380" y="1421182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Breakfast</a:t>
            </a:r>
          </a:p>
        </p:txBody>
      </p:sp>
      <p:sp>
        <p:nvSpPr>
          <p:cNvPr id="20" name="rb10_2a"/>
          <p:cNvSpPr/>
          <p:nvPr/>
        </p:nvSpPr>
        <p:spPr>
          <a:xfrm>
            <a:off x="457200" y="1865104"/>
            <a:ext cx="1440180" cy="4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1" name="rb10_2b"/>
          <p:cNvSpPr/>
          <p:nvPr/>
        </p:nvSpPr>
        <p:spPr>
          <a:xfrm>
            <a:off x="1897380" y="1865104"/>
            <a:ext cx="256032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" name="rt10_2a"/>
          <p:cNvSpPr/>
          <p:nvPr/>
        </p:nvSpPr>
        <p:spPr>
          <a:xfrm>
            <a:off x="487200" y="1885104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9:30 – 10:00</a:t>
            </a:r>
          </a:p>
        </p:txBody>
      </p:sp>
      <p:sp>
        <p:nvSpPr>
          <p:cNvPr id="23" name="rt10_2b"/>
          <p:cNvSpPr/>
          <p:nvPr/>
        </p:nvSpPr>
        <p:spPr>
          <a:xfrm>
            <a:off x="1927380" y="1885104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Opening Ceremony</a:t>
            </a:r>
          </a:p>
        </p:txBody>
      </p:sp>
      <p:sp>
        <p:nvSpPr>
          <p:cNvPr id="24" name="rb10_3a"/>
          <p:cNvSpPr/>
          <p:nvPr/>
        </p:nvSpPr>
        <p:spPr>
          <a:xfrm>
            <a:off x="457200" y="2329026"/>
            <a:ext cx="144018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5" name="rb10_3b"/>
          <p:cNvSpPr/>
          <p:nvPr/>
        </p:nvSpPr>
        <p:spPr>
          <a:xfrm>
            <a:off x="1897380" y="2329026"/>
            <a:ext cx="2560320" cy="4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6" name="rt10_3a"/>
          <p:cNvSpPr/>
          <p:nvPr/>
        </p:nvSpPr>
        <p:spPr>
          <a:xfrm>
            <a:off x="487200" y="2349026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10:00 – 11:30</a:t>
            </a:r>
          </a:p>
        </p:txBody>
      </p:sp>
      <p:sp>
        <p:nvSpPr>
          <p:cNvPr id="27" name="rt10_3b"/>
          <p:cNvSpPr/>
          <p:nvPr/>
        </p:nvSpPr>
        <p:spPr>
          <a:xfrm>
            <a:off x="1927380" y="2349026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Breath work</a:t>
            </a:r>
          </a:p>
        </p:txBody>
      </p:sp>
      <p:sp>
        <p:nvSpPr>
          <p:cNvPr id="28" name="rb10_4a"/>
          <p:cNvSpPr/>
          <p:nvPr/>
        </p:nvSpPr>
        <p:spPr>
          <a:xfrm>
            <a:off x="457200" y="2792948"/>
            <a:ext cx="1440180" cy="4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9" name="rb10_4b"/>
          <p:cNvSpPr/>
          <p:nvPr/>
        </p:nvSpPr>
        <p:spPr>
          <a:xfrm>
            <a:off x="1897380" y="2792948"/>
            <a:ext cx="256032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0" name="rt10_4a"/>
          <p:cNvSpPr/>
          <p:nvPr/>
        </p:nvSpPr>
        <p:spPr>
          <a:xfrm>
            <a:off x="487200" y="2812948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11:30 – 12:30</a:t>
            </a:r>
          </a:p>
        </p:txBody>
      </p:sp>
      <p:sp>
        <p:nvSpPr>
          <p:cNvPr id="31" name="rt10_4b"/>
          <p:cNvSpPr/>
          <p:nvPr/>
        </p:nvSpPr>
        <p:spPr>
          <a:xfrm>
            <a:off x="1927380" y="2812948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Paired debrief &amp; group sharing</a:t>
            </a:r>
          </a:p>
        </p:txBody>
      </p:sp>
      <p:sp>
        <p:nvSpPr>
          <p:cNvPr id="32" name="rb10_5a"/>
          <p:cNvSpPr/>
          <p:nvPr/>
        </p:nvSpPr>
        <p:spPr>
          <a:xfrm>
            <a:off x="457200" y="3256870"/>
            <a:ext cx="144018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3" name="rb10_5b"/>
          <p:cNvSpPr/>
          <p:nvPr/>
        </p:nvSpPr>
        <p:spPr>
          <a:xfrm>
            <a:off x="1897380" y="3256870"/>
            <a:ext cx="2560320" cy="4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34" name="rt10_5a"/>
          <p:cNvSpPr/>
          <p:nvPr/>
        </p:nvSpPr>
        <p:spPr>
          <a:xfrm>
            <a:off x="487200" y="3276870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12:30 – 14:00</a:t>
            </a:r>
          </a:p>
        </p:txBody>
      </p:sp>
      <p:sp>
        <p:nvSpPr>
          <p:cNvPr id="35" name="rt10_5b"/>
          <p:cNvSpPr/>
          <p:nvPr/>
        </p:nvSpPr>
        <p:spPr>
          <a:xfrm>
            <a:off x="1927380" y="3276870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Lunch</a:t>
            </a:r>
          </a:p>
        </p:txBody>
      </p:sp>
      <p:sp>
        <p:nvSpPr>
          <p:cNvPr id="36" name="rb10_6a"/>
          <p:cNvSpPr/>
          <p:nvPr/>
        </p:nvSpPr>
        <p:spPr>
          <a:xfrm>
            <a:off x="457200" y="3720792"/>
            <a:ext cx="1440180" cy="4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7" name="rb10_6b"/>
          <p:cNvSpPr/>
          <p:nvPr/>
        </p:nvSpPr>
        <p:spPr>
          <a:xfrm>
            <a:off x="1897380" y="3720792"/>
            <a:ext cx="256032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8" name="rt10_6a"/>
          <p:cNvSpPr/>
          <p:nvPr/>
        </p:nvSpPr>
        <p:spPr>
          <a:xfrm>
            <a:off x="487200" y="3740792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14:00 – 18:00</a:t>
            </a:r>
          </a:p>
        </p:txBody>
      </p:sp>
      <p:sp>
        <p:nvSpPr>
          <p:cNvPr id="39" name="rt10_6b"/>
          <p:cNvSpPr/>
          <p:nvPr/>
        </p:nvSpPr>
        <p:spPr>
          <a:xfrm>
            <a:off x="1927380" y="3740792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Waterfall hike</a:t>
            </a:r>
          </a:p>
        </p:txBody>
      </p:sp>
      <p:sp>
        <p:nvSpPr>
          <p:cNvPr id="40" name="rb10_7a"/>
          <p:cNvSpPr/>
          <p:nvPr/>
        </p:nvSpPr>
        <p:spPr>
          <a:xfrm>
            <a:off x="457200" y="4184714"/>
            <a:ext cx="1440180" cy="4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1" name="rb10_7b"/>
          <p:cNvSpPr/>
          <p:nvPr/>
        </p:nvSpPr>
        <p:spPr>
          <a:xfrm>
            <a:off x="1897380" y="4184714"/>
            <a:ext cx="2560320" cy="4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42" name="rt10_7a"/>
          <p:cNvSpPr/>
          <p:nvPr/>
        </p:nvSpPr>
        <p:spPr>
          <a:xfrm>
            <a:off x="487200" y="4204714"/>
            <a:ext cx="140018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18:30</a:t>
            </a:r>
          </a:p>
        </p:txBody>
      </p:sp>
      <p:sp>
        <p:nvSpPr>
          <p:cNvPr id="43" name="rt10_7b"/>
          <p:cNvSpPr/>
          <p:nvPr/>
        </p:nvSpPr>
        <p:spPr>
          <a:xfrm>
            <a:off x="1927380" y="4204714"/>
            <a:ext cx="2520320" cy="433922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Dinner</a:t>
            </a:r>
          </a:p>
        </p:txBody>
      </p:sp>
      <p:sp>
        <p:nvSpPr>
          <p:cNvPr id="200" name="dh200"/>
          <p:cNvSpPr/>
          <p:nvPr/>
        </p:nvSpPr>
        <p:spPr>
          <a:xfrm>
            <a:off x="4686300" y="548640"/>
            <a:ext cx="400050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201" name="dht200"/>
          <p:cNvSpPr/>
          <p:nvPr/>
        </p:nvSpPr>
        <p:spPr>
          <a:xfrm>
            <a:off x="4746300" y="568640"/>
            <a:ext cx="3920500" cy="368620"/>
          </a:xfrm>
          <a:prstGeom prst="rect">
            <a:avLst/>
          </a:prstGeom>
          <a:noFill/>
          <a:ln/>
        </p:spPr>
        <p:txBody>
          <a:bodyPr wrap="square" lIns="20000" tIns="10000" rIns="20000" bIns="10000" rtlCol="0" anchor="ctr"/>
          <a:lstStyle/>
          <a:p>
            <a:pPr algn="ctr" marL="0" indent="0">
              <a:buNone/>
            </a:pPr>
            <a:r>
              <a:rPr lang="en-US" sz="1200" b="1" i="0" dirty="0">
                <a:solidFill>
                  <a:srgbClr val="FFFFFF"/>
                </a:solidFill>
                <a:latin typeface="Georgia"/>
              </a:rPr>
              <a:t>Day 5 — Fire Ceremony</a:t>
            </a:r>
          </a:p>
        </p:txBody>
      </p:sp>
      <p:sp>
        <p:nvSpPr>
          <p:cNvPr id="202" name="rb200_0a"/>
          <p:cNvSpPr/>
          <p:nvPr/>
        </p:nvSpPr>
        <p:spPr>
          <a:xfrm>
            <a:off x="4686300" y="93726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03" name="rb200_0b"/>
          <p:cNvSpPr/>
          <p:nvPr/>
        </p:nvSpPr>
        <p:spPr>
          <a:xfrm>
            <a:off x="6126480" y="93726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04" name="rt200_0a"/>
          <p:cNvSpPr/>
          <p:nvPr/>
        </p:nvSpPr>
        <p:spPr>
          <a:xfrm>
            <a:off x="4716300" y="95726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7:00 – 8:00</a:t>
            </a:r>
          </a:p>
        </p:txBody>
      </p:sp>
      <p:sp>
        <p:nvSpPr>
          <p:cNvPr id="205" name="rt200_0b"/>
          <p:cNvSpPr/>
          <p:nvPr/>
        </p:nvSpPr>
        <p:spPr>
          <a:xfrm>
            <a:off x="6156480" y="95726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Optional Yoga, Movement, Walk</a:t>
            </a:r>
          </a:p>
        </p:txBody>
      </p:sp>
      <p:sp>
        <p:nvSpPr>
          <p:cNvPr id="206" name="rb200_1a"/>
          <p:cNvSpPr/>
          <p:nvPr/>
        </p:nvSpPr>
        <p:spPr>
          <a:xfrm>
            <a:off x="4686300" y="134963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07" name="rb200_1b"/>
          <p:cNvSpPr/>
          <p:nvPr/>
        </p:nvSpPr>
        <p:spPr>
          <a:xfrm>
            <a:off x="6126480" y="134963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08" name="rt200_1a"/>
          <p:cNvSpPr/>
          <p:nvPr/>
        </p:nvSpPr>
        <p:spPr>
          <a:xfrm>
            <a:off x="4716300" y="136963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8:00 – 9:00</a:t>
            </a:r>
          </a:p>
        </p:txBody>
      </p:sp>
      <p:sp>
        <p:nvSpPr>
          <p:cNvPr id="209" name="rt200_1b"/>
          <p:cNvSpPr/>
          <p:nvPr/>
        </p:nvSpPr>
        <p:spPr>
          <a:xfrm>
            <a:off x="6156480" y="136963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Breakfast</a:t>
            </a:r>
          </a:p>
        </p:txBody>
      </p:sp>
      <p:sp>
        <p:nvSpPr>
          <p:cNvPr id="210" name="rb200_2a"/>
          <p:cNvSpPr/>
          <p:nvPr/>
        </p:nvSpPr>
        <p:spPr>
          <a:xfrm>
            <a:off x="4686300" y="176201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11" name="rb200_2b"/>
          <p:cNvSpPr/>
          <p:nvPr/>
        </p:nvSpPr>
        <p:spPr>
          <a:xfrm>
            <a:off x="6126480" y="176201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12" name="rt200_2a"/>
          <p:cNvSpPr/>
          <p:nvPr/>
        </p:nvSpPr>
        <p:spPr>
          <a:xfrm>
            <a:off x="4716300" y="178201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9:30 – 10:00</a:t>
            </a:r>
          </a:p>
        </p:txBody>
      </p:sp>
      <p:sp>
        <p:nvSpPr>
          <p:cNvPr id="213" name="rt200_2b"/>
          <p:cNvSpPr/>
          <p:nvPr/>
        </p:nvSpPr>
        <p:spPr>
          <a:xfrm>
            <a:off x="6156480" y="178201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Opening Ceremony</a:t>
            </a:r>
          </a:p>
        </p:txBody>
      </p:sp>
      <p:sp>
        <p:nvSpPr>
          <p:cNvPr id="214" name="rb200_3a"/>
          <p:cNvSpPr/>
          <p:nvPr/>
        </p:nvSpPr>
        <p:spPr>
          <a:xfrm>
            <a:off x="4686300" y="217438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15" name="rb200_3b"/>
          <p:cNvSpPr/>
          <p:nvPr/>
        </p:nvSpPr>
        <p:spPr>
          <a:xfrm>
            <a:off x="6126480" y="217438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16" name="rt200_3a"/>
          <p:cNvSpPr/>
          <p:nvPr/>
        </p:nvSpPr>
        <p:spPr>
          <a:xfrm>
            <a:off x="4716300" y="219438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10:00 – 12:00</a:t>
            </a:r>
          </a:p>
        </p:txBody>
      </p:sp>
      <p:sp>
        <p:nvSpPr>
          <p:cNvPr id="217" name="rt200_3b"/>
          <p:cNvSpPr/>
          <p:nvPr/>
        </p:nvSpPr>
        <p:spPr>
          <a:xfrm>
            <a:off x="6156480" y="219438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Traditional Fire Ceremony &amp; Theta Drumming</a:t>
            </a:r>
          </a:p>
        </p:txBody>
      </p:sp>
      <p:sp>
        <p:nvSpPr>
          <p:cNvPr id="218" name="rb200_4a"/>
          <p:cNvSpPr/>
          <p:nvPr/>
        </p:nvSpPr>
        <p:spPr>
          <a:xfrm>
            <a:off x="4686300" y="258676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19" name="rb200_4b"/>
          <p:cNvSpPr/>
          <p:nvPr/>
        </p:nvSpPr>
        <p:spPr>
          <a:xfrm>
            <a:off x="6126480" y="258676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0" name="rt200_4a"/>
          <p:cNvSpPr/>
          <p:nvPr/>
        </p:nvSpPr>
        <p:spPr>
          <a:xfrm>
            <a:off x="4716300" y="260676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12:00 – 12:30</a:t>
            </a:r>
          </a:p>
        </p:txBody>
      </p:sp>
      <p:sp>
        <p:nvSpPr>
          <p:cNvPr id="221" name="rt200_4b"/>
          <p:cNvSpPr/>
          <p:nvPr/>
        </p:nvSpPr>
        <p:spPr>
          <a:xfrm>
            <a:off x="6156480" y="260676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Paired check-in</a:t>
            </a:r>
          </a:p>
        </p:txBody>
      </p:sp>
      <p:sp>
        <p:nvSpPr>
          <p:cNvPr id="222" name="rb200_5a"/>
          <p:cNvSpPr/>
          <p:nvPr/>
        </p:nvSpPr>
        <p:spPr>
          <a:xfrm>
            <a:off x="4686300" y="299913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3" name="rb200_5b"/>
          <p:cNvSpPr/>
          <p:nvPr/>
        </p:nvSpPr>
        <p:spPr>
          <a:xfrm>
            <a:off x="6126480" y="299913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24" name="rt200_5a"/>
          <p:cNvSpPr/>
          <p:nvPr/>
        </p:nvSpPr>
        <p:spPr>
          <a:xfrm>
            <a:off x="4716300" y="301913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12:30 – 14:00</a:t>
            </a:r>
          </a:p>
        </p:txBody>
      </p:sp>
      <p:sp>
        <p:nvSpPr>
          <p:cNvPr id="225" name="rt200_5b"/>
          <p:cNvSpPr/>
          <p:nvPr/>
        </p:nvSpPr>
        <p:spPr>
          <a:xfrm>
            <a:off x="6156480" y="301913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Lunch</a:t>
            </a:r>
          </a:p>
        </p:txBody>
      </p:sp>
      <p:sp>
        <p:nvSpPr>
          <p:cNvPr id="226" name="rb200_6a"/>
          <p:cNvSpPr/>
          <p:nvPr/>
        </p:nvSpPr>
        <p:spPr>
          <a:xfrm>
            <a:off x="4686300" y="341151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27" name="rb200_6b"/>
          <p:cNvSpPr/>
          <p:nvPr/>
        </p:nvSpPr>
        <p:spPr>
          <a:xfrm>
            <a:off x="6126480" y="341151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28" name="rt200_6a"/>
          <p:cNvSpPr/>
          <p:nvPr/>
        </p:nvSpPr>
        <p:spPr>
          <a:xfrm>
            <a:off x="4716300" y="343151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14:00 – 18:00</a:t>
            </a:r>
          </a:p>
        </p:txBody>
      </p:sp>
      <p:sp>
        <p:nvSpPr>
          <p:cNvPr id="229" name="rt200_6b"/>
          <p:cNvSpPr/>
          <p:nvPr/>
        </p:nvSpPr>
        <p:spPr>
          <a:xfrm>
            <a:off x="6156480" y="343151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Journal, rest, &amp; optional drop in with facilitators</a:t>
            </a:r>
          </a:p>
        </p:txBody>
      </p:sp>
      <p:sp>
        <p:nvSpPr>
          <p:cNvPr id="230" name="rb200_7a"/>
          <p:cNvSpPr/>
          <p:nvPr/>
        </p:nvSpPr>
        <p:spPr>
          <a:xfrm>
            <a:off x="4686300" y="3823885"/>
            <a:ext cx="144018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31" name="rb200_7b"/>
          <p:cNvSpPr/>
          <p:nvPr/>
        </p:nvSpPr>
        <p:spPr>
          <a:xfrm>
            <a:off x="6126480" y="3823885"/>
            <a:ext cx="2560320" cy="412375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32" name="rt200_7a"/>
          <p:cNvSpPr/>
          <p:nvPr/>
        </p:nvSpPr>
        <p:spPr>
          <a:xfrm>
            <a:off x="4716300" y="3843885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18:30</a:t>
            </a:r>
          </a:p>
        </p:txBody>
      </p:sp>
      <p:sp>
        <p:nvSpPr>
          <p:cNvPr id="233" name="rt200_7b"/>
          <p:cNvSpPr/>
          <p:nvPr/>
        </p:nvSpPr>
        <p:spPr>
          <a:xfrm>
            <a:off x="6156480" y="3843885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Dinner</a:t>
            </a:r>
          </a:p>
        </p:txBody>
      </p:sp>
      <p:sp>
        <p:nvSpPr>
          <p:cNvPr id="234" name="rb200_8a"/>
          <p:cNvSpPr/>
          <p:nvPr/>
        </p:nvSpPr>
        <p:spPr>
          <a:xfrm>
            <a:off x="4686300" y="4236260"/>
            <a:ext cx="1440180" cy="412375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35" name="rb200_8b"/>
          <p:cNvSpPr/>
          <p:nvPr/>
        </p:nvSpPr>
        <p:spPr>
          <a:xfrm>
            <a:off x="6126480" y="4236260"/>
            <a:ext cx="2560320" cy="41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36" name="rt200_8a"/>
          <p:cNvSpPr/>
          <p:nvPr/>
        </p:nvSpPr>
        <p:spPr>
          <a:xfrm>
            <a:off x="4716300" y="4256260"/>
            <a:ext cx="140018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1" i="0" dirty="0">
                <a:solidFill>
                  <a:srgbClr val="333333"/>
                </a:solidFill>
                <a:latin typeface="Calibri"/>
              </a:rPr>
              <a:t>22:00</a:t>
            </a:r>
          </a:p>
        </p:txBody>
      </p:sp>
      <p:sp>
        <p:nvSpPr>
          <p:cNvPr id="237" name="rt200_8b"/>
          <p:cNvSpPr/>
          <p:nvPr/>
        </p:nvSpPr>
        <p:spPr>
          <a:xfrm>
            <a:off x="6156480" y="4256260"/>
            <a:ext cx="2520320" cy="382375"/>
          </a:xfrm>
          <a:prstGeom prst="rect">
            <a:avLst/>
          </a:prstGeom>
          <a:noFill/>
          <a:ln/>
        </p:spPr>
        <p:txBody>
          <a:bodyPr wrap="square" lIns="20000" tIns="10000" rIns="10000" bIns="1000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555555"/>
                </a:solidFill>
                <a:latin typeface="Calibri"/>
              </a:rPr>
              <a:t>Traditional Ayahuasca Ceremony</a:t>
            </a:r>
          </a:p>
        </p:txBody>
      </p:sp>
      <p:sp>
        <p:nvSpPr>
          <p:cNvPr id="5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5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CEREMONY PHASE — IN-PERSON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2400" b="1" i="0" dirty="0">
                <a:solidFill>
                  <a:srgbClr val="222222"/>
                </a:solidFill>
                <a:latin typeface="Georgia"/>
              </a:rPr>
              <a:t>Day 6 — Integration &amp; Closing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1000" b="0" i="1" dirty="0">
                <a:solidFill>
                  <a:srgbClr val="555555"/>
                </a:solidFill>
                <a:latin typeface="Georgia"/>
              </a:rPr>
              <a:t>Reflection · Ceremony · Departure Prep</a:t>
            </a:r>
          </a:p>
        </p:txBody>
      </p:sp>
      <p:sp>
        <p:nvSpPr>
          <p:cNvPr id="10" name="hbg1"/>
          <p:cNvSpPr/>
          <p:nvPr/>
        </p:nvSpPr>
        <p:spPr>
          <a:xfrm>
            <a:off x="457200" y="1350000"/>
            <a:ext cx="2633472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hbg2"/>
          <p:cNvSpPr/>
          <p:nvPr/>
        </p:nvSpPr>
        <p:spPr>
          <a:xfrm>
            <a:off x="3090672" y="1350000"/>
            <a:ext cx="5596128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2" name="ht1"/>
          <p:cNvSpPr/>
          <p:nvPr/>
        </p:nvSpPr>
        <p:spPr>
          <a:xfrm>
            <a:off x="517200" y="1380000"/>
            <a:ext cx="2573472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Time</a:t>
            </a:r>
          </a:p>
        </p:txBody>
      </p:sp>
      <p:sp>
        <p:nvSpPr>
          <p:cNvPr id="13" name="ht2"/>
          <p:cNvSpPr/>
          <p:nvPr/>
        </p:nvSpPr>
        <p:spPr>
          <a:xfrm>
            <a:off x="3150672" y="1380000"/>
            <a:ext cx="5536128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Activity</a:t>
            </a:r>
          </a:p>
        </p:txBody>
      </p:sp>
      <p:sp>
        <p:nvSpPr>
          <p:cNvPr id="14" name="r0c1bg"/>
          <p:cNvSpPr/>
          <p:nvPr/>
        </p:nvSpPr>
        <p:spPr>
          <a:xfrm>
            <a:off x="457200" y="1738620"/>
            <a:ext cx="2633472" cy="3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5" name="r0c2bg"/>
          <p:cNvSpPr/>
          <p:nvPr/>
        </p:nvSpPr>
        <p:spPr>
          <a:xfrm>
            <a:off x="3090672" y="1738620"/>
            <a:ext cx="5596128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6" name="r0t1"/>
          <p:cNvSpPr/>
          <p:nvPr/>
        </p:nvSpPr>
        <p:spPr>
          <a:xfrm>
            <a:off x="517200" y="1768620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7:00 – 8:00</a:t>
            </a:r>
          </a:p>
        </p:txBody>
      </p:sp>
      <p:sp>
        <p:nvSpPr>
          <p:cNvPr id="17" name="r0t2"/>
          <p:cNvSpPr/>
          <p:nvPr/>
        </p:nvSpPr>
        <p:spPr>
          <a:xfrm>
            <a:off x="3150672" y="1768620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Optional Yoga, Movement, Walk</a:t>
            </a:r>
          </a:p>
        </p:txBody>
      </p:sp>
      <p:sp>
        <p:nvSpPr>
          <p:cNvPr id="18" name="r1c1bg"/>
          <p:cNvSpPr/>
          <p:nvPr/>
        </p:nvSpPr>
        <p:spPr>
          <a:xfrm>
            <a:off x="457200" y="2102542"/>
            <a:ext cx="2633472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9" name="r1c2bg"/>
          <p:cNvSpPr/>
          <p:nvPr/>
        </p:nvSpPr>
        <p:spPr>
          <a:xfrm>
            <a:off x="3090672" y="2102542"/>
            <a:ext cx="5596128" cy="3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0" name="r1t1"/>
          <p:cNvSpPr/>
          <p:nvPr/>
        </p:nvSpPr>
        <p:spPr>
          <a:xfrm>
            <a:off x="517200" y="2132542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8:00 – 10:00</a:t>
            </a:r>
          </a:p>
        </p:txBody>
      </p:sp>
      <p:sp>
        <p:nvSpPr>
          <p:cNvPr id="21" name="r1t2"/>
          <p:cNvSpPr/>
          <p:nvPr/>
        </p:nvSpPr>
        <p:spPr>
          <a:xfrm>
            <a:off x="3150672" y="2132542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Breakfast</a:t>
            </a:r>
          </a:p>
        </p:txBody>
      </p:sp>
      <p:sp>
        <p:nvSpPr>
          <p:cNvPr id="22" name="r2c1bg"/>
          <p:cNvSpPr/>
          <p:nvPr/>
        </p:nvSpPr>
        <p:spPr>
          <a:xfrm>
            <a:off x="457200" y="2466464"/>
            <a:ext cx="2633472" cy="3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3" name="r2c2bg"/>
          <p:cNvSpPr/>
          <p:nvPr/>
        </p:nvSpPr>
        <p:spPr>
          <a:xfrm>
            <a:off x="3090672" y="2466464"/>
            <a:ext cx="5596128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4" name="r2t1"/>
          <p:cNvSpPr/>
          <p:nvPr/>
        </p:nvSpPr>
        <p:spPr>
          <a:xfrm>
            <a:off x="517200" y="2496464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12:30 – 14:00</a:t>
            </a:r>
          </a:p>
        </p:txBody>
      </p:sp>
      <p:sp>
        <p:nvSpPr>
          <p:cNvPr id="25" name="r2t2"/>
          <p:cNvSpPr/>
          <p:nvPr/>
        </p:nvSpPr>
        <p:spPr>
          <a:xfrm>
            <a:off x="3150672" y="2496464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Lunch</a:t>
            </a:r>
          </a:p>
        </p:txBody>
      </p:sp>
      <p:sp>
        <p:nvSpPr>
          <p:cNvPr id="26" name="r3c1bg"/>
          <p:cNvSpPr/>
          <p:nvPr/>
        </p:nvSpPr>
        <p:spPr>
          <a:xfrm>
            <a:off x="457200" y="2830386"/>
            <a:ext cx="2633472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7" name="r3c2bg"/>
          <p:cNvSpPr/>
          <p:nvPr/>
        </p:nvSpPr>
        <p:spPr>
          <a:xfrm>
            <a:off x="3090672" y="2830386"/>
            <a:ext cx="5596128" cy="3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8" name="r3t1"/>
          <p:cNvSpPr/>
          <p:nvPr/>
        </p:nvSpPr>
        <p:spPr>
          <a:xfrm>
            <a:off x="517200" y="2860386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14:00 – 15:30</a:t>
            </a:r>
          </a:p>
        </p:txBody>
      </p:sp>
      <p:sp>
        <p:nvSpPr>
          <p:cNvPr id="29" name="r3t2"/>
          <p:cNvSpPr/>
          <p:nvPr/>
        </p:nvSpPr>
        <p:spPr>
          <a:xfrm>
            <a:off x="3150672" y="2860386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Group Integration</a:t>
            </a:r>
          </a:p>
        </p:txBody>
      </p:sp>
      <p:sp>
        <p:nvSpPr>
          <p:cNvPr id="30" name="r4c1bg"/>
          <p:cNvSpPr/>
          <p:nvPr/>
        </p:nvSpPr>
        <p:spPr>
          <a:xfrm>
            <a:off x="457200" y="3194308"/>
            <a:ext cx="2633472" cy="3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1" name="r4c2bg"/>
          <p:cNvSpPr/>
          <p:nvPr/>
        </p:nvSpPr>
        <p:spPr>
          <a:xfrm>
            <a:off x="3090672" y="3194308"/>
            <a:ext cx="5596128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2" name="r4t1"/>
          <p:cNvSpPr/>
          <p:nvPr/>
        </p:nvSpPr>
        <p:spPr>
          <a:xfrm>
            <a:off x="517200" y="3224308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15:30 – 17:00</a:t>
            </a:r>
          </a:p>
        </p:txBody>
      </p:sp>
      <p:sp>
        <p:nvSpPr>
          <p:cNvPr id="33" name="r4t2"/>
          <p:cNvSpPr/>
          <p:nvPr/>
        </p:nvSpPr>
        <p:spPr>
          <a:xfrm>
            <a:off x="3150672" y="3224308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Paired integration</a:t>
            </a:r>
          </a:p>
        </p:txBody>
      </p:sp>
      <p:sp>
        <p:nvSpPr>
          <p:cNvPr id="34" name="r5c1bg"/>
          <p:cNvSpPr/>
          <p:nvPr/>
        </p:nvSpPr>
        <p:spPr>
          <a:xfrm>
            <a:off x="457200" y="3558230"/>
            <a:ext cx="2633472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5" name="r5c2bg"/>
          <p:cNvSpPr/>
          <p:nvPr/>
        </p:nvSpPr>
        <p:spPr>
          <a:xfrm>
            <a:off x="3090672" y="3558230"/>
            <a:ext cx="5596128" cy="3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36" name="r5t1"/>
          <p:cNvSpPr/>
          <p:nvPr/>
        </p:nvSpPr>
        <p:spPr>
          <a:xfrm>
            <a:off x="517200" y="3588230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17:00 – 17:30</a:t>
            </a:r>
          </a:p>
        </p:txBody>
      </p:sp>
      <p:sp>
        <p:nvSpPr>
          <p:cNvPr id="37" name="r5t2"/>
          <p:cNvSpPr/>
          <p:nvPr/>
        </p:nvSpPr>
        <p:spPr>
          <a:xfrm>
            <a:off x="3150672" y="3588230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Post journey letter to self</a:t>
            </a:r>
          </a:p>
        </p:txBody>
      </p:sp>
      <p:sp>
        <p:nvSpPr>
          <p:cNvPr id="38" name="r6c1bg"/>
          <p:cNvSpPr/>
          <p:nvPr/>
        </p:nvSpPr>
        <p:spPr>
          <a:xfrm>
            <a:off x="457200" y="3922152"/>
            <a:ext cx="2633472" cy="36392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9" name="r6c2bg"/>
          <p:cNvSpPr/>
          <p:nvPr/>
        </p:nvSpPr>
        <p:spPr>
          <a:xfrm>
            <a:off x="3090672" y="3922152"/>
            <a:ext cx="5596128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0" name="r6t1"/>
          <p:cNvSpPr/>
          <p:nvPr/>
        </p:nvSpPr>
        <p:spPr>
          <a:xfrm>
            <a:off x="517200" y="3952152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17:30 – 18:30</a:t>
            </a:r>
          </a:p>
        </p:txBody>
      </p:sp>
      <p:sp>
        <p:nvSpPr>
          <p:cNvPr id="41" name="r6t2"/>
          <p:cNvSpPr/>
          <p:nvPr/>
        </p:nvSpPr>
        <p:spPr>
          <a:xfrm>
            <a:off x="3150672" y="3952152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Closing ceremony &amp; promise to self</a:t>
            </a:r>
          </a:p>
        </p:txBody>
      </p:sp>
      <p:sp>
        <p:nvSpPr>
          <p:cNvPr id="42" name="r7c1bg"/>
          <p:cNvSpPr/>
          <p:nvPr/>
        </p:nvSpPr>
        <p:spPr>
          <a:xfrm>
            <a:off x="457200" y="4286074"/>
            <a:ext cx="2633472" cy="36392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43" name="r7c2bg"/>
          <p:cNvSpPr/>
          <p:nvPr/>
        </p:nvSpPr>
        <p:spPr>
          <a:xfrm>
            <a:off x="3090672" y="4286074"/>
            <a:ext cx="5596128" cy="36392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44" name="r7t1"/>
          <p:cNvSpPr/>
          <p:nvPr/>
        </p:nvSpPr>
        <p:spPr>
          <a:xfrm>
            <a:off x="517200" y="4316074"/>
            <a:ext cx="2553472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18:30</a:t>
            </a:r>
          </a:p>
        </p:txBody>
      </p:sp>
      <p:sp>
        <p:nvSpPr>
          <p:cNvPr id="45" name="r7t2"/>
          <p:cNvSpPr/>
          <p:nvPr/>
        </p:nvSpPr>
        <p:spPr>
          <a:xfrm>
            <a:off x="3150672" y="4316074"/>
            <a:ext cx="5516128" cy="323922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Dinner</a:t>
            </a:r>
          </a:p>
        </p:txBody>
      </p:sp>
      <p:sp>
        <p:nvSpPr>
          <p:cNvPr id="4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457200" y="194000"/>
            <a:ext cx="36576" cy="42100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</a:ln>
        </p:spPr>
      </p:sp>
      <p:sp>
        <p:nvSpPr>
          <p:cNvPr id="3" name="seclbl"/>
          <p:cNvSpPr/>
          <p:nvPr/>
        </p:nvSpPr>
        <p:spPr>
          <a:xfrm>
            <a:off x="577200" y="3733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800" b="0" i="0" dirty="0">
                <a:solidFill>
                  <a:srgbClr val="AAAAAA"/>
                </a:solidFill>
                <a:latin typeface="Calibri"/>
              </a:rPr>
              <a:t>POST INTEGRATION PHASE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2400" b="1" i="0" dirty="0">
                <a:solidFill>
                  <a:srgbClr val="222222"/>
                </a:solidFill>
                <a:latin typeface="Georgia"/>
              </a:rPr>
              <a:t>Post Integration Phase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1000" b="0" i="1" dirty="0">
                <a:solidFill>
                  <a:srgbClr val="555555"/>
                </a:solidFill>
                <a:latin typeface="Georgia"/>
              </a:rPr>
              <a:t>Digital · After the Retreat</a:t>
            </a:r>
          </a:p>
        </p:txBody>
      </p:sp>
      <p:sp>
        <p:nvSpPr>
          <p:cNvPr id="10" name="hbg1"/>
          <p:cNvSpPr/>
          <p:nvPr/>
        </p:nvSpPr>
        <p:spPr>
          <a:xfrm>
            <a:off x="457200" y="1350000"/>
            <a:ext cx="493776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1" name="hbg2"/>
          <p:cNvSpPr/>
          <p:nvPr/>
        </p:nvSpPr>
        <p:spPr>
          <a:xfrm>
            <a:off x="5394960" y="1350000"/>
            <a:ext cx="3291840" cy="38862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</p:sp>
      <p:sp>
        <p:nvSpPr>
          <p:cNvPr id="12" name="ht1"/>
          <p:cNvSpPr/>
          <p:nvPr/>
        </p:nvSpPr>
        <p:spPr>
          <a:xfrm>
            <a:off x="517200" y="1380000"/>
            <a:ext cx="4877760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Task</a:t>
            </a:r>
          </a:p>
        </p:txBody>
      </p:sp>
      <p:sp>
        <p:nvSpPr>
          <p:cNvPr id="13" name="ht2"/>
          <p:cNvSpPr/>
          <p:nvPr/>
        </p:nvSpPr>
        <p:spPr>
          <a:xfrm>
            <a:off x="5454960" y="1380000"/>
            <a:ext cx="3231840" cy="328620"/>
          </a:xfrm>
          <a:prstGeom prst="rect">
            <a:avLst/>
          </a:prstGeom>
          <a:noFill/>
          <a:ln/>
        </p:spPr>
        <p:txBody>
          <a:bodyPr wrap="square" lIns="60000" tIns="30000" rIns="30000" bIns="30000" rtlCol="0" anchor="ctr"/>
          <a:lstStyle/>
          <a:p>
            <a:pPr algn="l" marL="0" indent="0">
              <a:buNone/>
            </a:pPr>
            <a:r>
              <a:rPr lang="en-US" sz="1100" b="1" i="0" dirty="0">
                <a:solidFill>
                  <a:srgbClr val="FFFFFF"/>
                </a:solidFill>
                <a:latin typeface="Georgia"/>
              </a:rPr>
              <a:t>Duration</a:t>
            </a:r>
          </a:p>
        </p:txBody>
      </p:sp>
      <p:sp>
        <p:nvSpPr>
          <p:cNvPr id="14" name="r0c1bg"/>
          <p:cNvSpPr/>
          <p:nvPr/>
        </p:nvSpPr>
        <p:spPr>
          <a:xfrm>
            <a:off x="457200" y="1738620"/>
            <a:ext cx="4937760" cy="40227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5" name="r0c2bg"/>
          <p:cNvSpPr/>
          <p:nvPr/>
        </p:nvSpPr>
        <p:spPr>
          <a:xfrm>
            <a:off x="5394960" y="1738620"/>
            <a:ext cx="3291840" cy="4022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6" name="r0t1"/>
          <p:cNvSpPr/>
          <p:nvPr/>
        </p:nvSpPr>
        <p:spPr>
          <a:xfrm>
            <a:off x="517200" y="1768620"/>
            <a:ext cx="485776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Assessments</a:t>
            </a:r>
          </a:p>
        </p:txBody>
      </p:sp>
      <p:sp>
        <p:nvSpPr>
          <p:cNvPr id="17" name="r0t2"/>
          <p:cNvSpPr/>
          <p:nvPr/>
        </p:nvSpPr>
        <p:spPr>
          <a:xfrm>
            <a:off x="5454960" y="1768620"/>
            <a:ext cx="321184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18" name="r1c1bg"/>
          <p:cNvSpPr/>
          <p:nvPr/>
        </p:nvSpPr>
        <p:spPr>
          <a:xfrm>
            <a:off x="457200" y="2140896"/>
            <a:ext cx="4937760" cy="4022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19" name="r1c2bg"/>
          <p:cNvSpPr/>
          <p:nvPr/>
        </p:nvSpPr>
        <p:spPr>
          <a:xfrm>
            <a:off x="5394960" y="2140896"/>
            <a:ext cx="3291840" cy="4022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0" name="r1t1"/>
          <p:cNvSpPr/>
          <p:nvPr/>
        </p:nvSpPr>
        <p:spPr>
          <a:xfrm>
            <a:off x="517200" y="2170896"/>
            <a:ext cx="485776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1:1 Integration sessions with facilitator</a:t>
            </a:r>
          </a:p>
        </p:txBody>
      </p:sp>
      <p:sp>
        <p:nvSpPr>
          <p:cNvPr id="21" name="r1t2"/>
          <p:cNvSpPr/>
          <p:nvPr/>
        </p:nvSpPr>
        <p:spPr>
          <a:xfrm>
            <a:off x="5454960" y="2170896"/>
            <a:ext cx="321184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2 hours</a:t>
            </a:r>
          </a:p>
        </p:txBody>
      </p:sp>
      <p:sp>
        <p:nvSpPr>
          <p:cNvPr id="22" name="r2c1bg"/>
          <p:cNvSpPr/>
          <p:nvPr/>
        </p:nvSpPr>
        <p:spPr>
          <a:xfrm>
            <a:off x="457200" y="2543172"/>
            <a:ext cx="4937760" cy="40227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23" name="r2c2bg"/>
          <p:cNvSpPr/>
          <p:nvPr/>
        </p:nvSpPr>
        <p:spPr>
          <a:xfrm>
            <a:off x="5394960" y="2543172"/>
            <a:ext cx="3291840" cy="4022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4" name="r2t1"/>
          <p:cNvSpPr/>
          <p:nvPr/>
        </p:nvSpPr>
        <p:spPr>
          <a:xfrm>
            <a:off x="517200" y="2573172"/>
            <a:ext cx="485776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Group integration</a:t>
            </a:r>
          </a:p>
        </p:txBody>
      </p:sp>
      <p:sp>
        <p:nvSpPr>
          <p:cNvPr id="25" name="r2t2"/>
          <p:cNvSpPr/>
          <p:nvPr/>
        </p:nvSpPr>
        <p:spPr>
          <a:xfrm>
            <a:off x="5454960" y="2573172"/>
            <a:ext cx="321184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26" name="r3c1bg"/>
          <p:cNvSpPr/>
          <p:nvPr/>
        </p:nvSpPr>
        <p:spPr>
          <a:xfrm>
            <a:off x="457200" y="2945448"/>
            <a:ext cx="4937760" cy="4022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27" name="r3c2bg"/>
          <p:cNvSpPr/>
          <p:nvPr/>
        </p:nvSpPr>
        <p:spPr>
          <a:xfrm>
            <a:off x="5394960" y="2945448"/>
            <a:ext cx="3291840" cy="4022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</a:ln>
        </p:spPr>
      </p:sp>
      <p:sp>
        <p:nvSpPr>
          <p:cNvPr id="28" name="r3t1"/>
          <p:cNvSpPr/>
          <p:nvPr/>
        </p:nvSpPr>
        <p:spPr>
          <a:xfrm>
            <a:off x="517200" y="2975448"/>
            <a:ext cx="485776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Paired integration</a:t>
            </a:r>
          </a:p>
        </p:txBody>
      </p:sp>
      <p:sp>
        <p:nvSpPr>
          <p:cNvPr id="29" name="r3t2"/>
          <p:cNvSpPr/>
          <p:nvPr/>
        </p:nvSpPr>
        <p:spPr>
          <a:xfrm>
            <a:off x="5454960" y="2975448"/>
            <a:ext cx="321184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30" name="r4c1bg"/>
          <p:cNvSpPr/>
          <p:nvPr/>
        </p:nvSpPr>
        <p:spPr>
          <a:xfrm>
            <a:off x="457200" y="3347724"/>
            <a:ext cx="4937760" cy="40227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1" name="r4c2bg"/>
          <p:cNvSpPr/>
          <p:nvPr/>
        </p:nvSpPr>
        <p:spPr>
          <a:xfrm>
            <a:off x="5394960" y="3347724"/>
            <a:ext cx="3291840" cy="4022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</p:sp>
      <p:sp>
        <p:nvSpPr>
          <p:cNvPr id="32" name="r4t1"/>
          <p:cNvSpPr/>
          <p:nvPr/>
        </p:nvSpPr>
        <p:spPr>
          <a:xfrm>
            <a:off x="517200" y="3377724"/>
            <a:ext cx="485776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1" i="0" dirty="0">
                <a:solidFill>
                  <a:srgbClr val="333333"/>
                </a:solidFill>
                <a:latin typeface="Calibri"/>
              </a:rPr>
              <a:t>Feedback</a:t>
            </a:r>
          </a:p>
        </p:txBody>
      </p:sp>
      <p:sp>
        <p:nvSpPr>
          <p:cNvPr id="33" name="r4t2"/>
          <p:cNvSpPr/>
          <p:nvPr/>
        </p:nvSpPr>
        <p:spPr>
          <a:xfrm>
            <a:off x="5454960" y="3377724"/>
            <a:ext cx="3211840" cy="362276"/>
          </a:xfrm>
          <a:prstGeom prst="rect">
            <a:avLst/>
          </a:prstGeom>
          <a:noFill/>
          <a:ln/>
        </p:spPr>
        <p:txBody>
          <a:bodyPr wrap="square" lIns="60000" tIns="20000" rIns="20000" bIns="20000" rtlCol="0" anchor="ctr"/>
          <a:lstStyle/>
          <a:p>
            <a:pPr algn="l" marL="0" indent="0">
              <a:buNone/>
            </a:pPr>
            <a:r>
              <a:rPr lang="en-US" sz="950" b="0" i="0" dirty="0">
                <a:solidFill>
                  <a:srgbClr val="555555"/>
                </a:solidFill>
                <a:latin typeface="Calibri"/>
              </a:rPr>
              <a:t>1 hour</a:t>
            </a:r>
          </a:p>
        </p:txBody>
      </p:sp>
      <p:sp>
        <p:nvSpPr>
          <p:cNvPr id="400" name="fline"/>
          <p:cNvSpPr/>
          <p:nvPr/>
        </p:nvSpPr>
        <p:spPr>
          <a:xfrm>
            <a:off x="457200" y="475020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01" name="ftxt"/>
          <p:cNvSpPr/>
          <p:nvPr/>
        </p:nvSpPr>
        <p:spPr>
          <a:xfrm>
            <a:off x="4572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buNone/>
            </a:pPr>
            <a:r>
              <a:rPr lang="en-US" sz="750" b="0" i="0" dirty="0">
                <a:solidFill>
                  <a:srgbClr val="AAAAAA"/>
                </a:solidFill>
                <a:latin typeface="Calibri"/>
              </a:rPr>
              <a:t>LUMINAL JOURNEYS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Luminal Journeys — Leadership Begins Within</dc:title>
  <dc:subject>PptxGenJS Presentation</dc:subject>
  <dc:creator>Luminal Journeys</dc:creator>
  <cp:lastModifiedBy>Luminal Journeys</cp:lastModifiedBy>
  <cp:revision>225</cp:revision>
  <dcterms:created xsi:type="dcterms:W3CDTF">2026-04-28T17:23:41Z</dcterms:created>
  <dcterms:modified xsi:type="dcterms:W3CDTF">2026-04-28T18:25:21Z</dcterms:modified>
</cp:coreProperties>
</file>